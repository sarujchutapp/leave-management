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70" r:id="rId25"/>
    <p:sldId id="280" r:id="rId26"/>
    <p:sldId id="28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7705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454718">
            <a:off x="-822960" y="-1005840"/>
            <a:ext cx="2377440" cy="2377440"/>
          </a:xfrm>
          <a:prstGeom prst="blockArc">
            <a:avLst>
              <a:gd name="adj1" fmla="val 12300000"/>
              <a:gd name="adj2" fmla="val 7500000"/>
              <a:gd name="adj3" fmla="val 31000"/>
            </a:avLst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223760" y="50292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223760" y="50292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TTMI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052560" y="566928"/>
            <a:ext cx="279806" cy="279806"/>
          </a:xfrm>
          <a:prstGeom prst="line">
            <a:avLst/>
          </a:prstGeom>
          <a:noFill/>
          <a:ln w="45263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 flipV="1">
            <a:off x="9052560" y="566928"/>
            <a:ext cx="279806" cy="279806"/>
          </a:xfrm>
          <a:prstGeom prst="line">
            <a:avLst/>
          </a:prstGeom>
          <a:noFill/>
          <a:ln w="45263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562795" y="566928"/>
            <a:ext cx="279806" cy="279806"/>
          </a:xfrm>
          <a:prstGeom prst="line">
            <a:avLst/>
          </a:prstGeom>
          <a:noFill/>
          <a:ln w="45263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flipV="1">
            <a:off x="9562795" y="566928"/>
            <a:ext cx="279806" cy="279806"/>
          </a:xfrm>
          <a:prstGeom prst="line">
            <a:avLst/>
          </a:prstGeom>
          <a:noFill/>
          <a:ln w="45263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073030" y="566928"/>
            <a:ext cx="279806" cy="279806"/>
          </a:xfrm>
          <a:prstGeom prst="line">
            <a:avLst/>
          </a:prstGeom>
          <a:noFill/>
          <a:ln w="45263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 flipV="1">
            <a:off x="10073030" y="566928"/>
            <a:ext cx="279806" cy="279806"/>
          </a:xfrm>
          <a:prstGeom prst="line">
            <a:avLst/>
          </a:prstGeom>
          <a:noFill/>
          <a:ln w="45263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583266" y="566928"/>
            <a:ext cx="279806" cy="279806"/>
          </a:xfrm>
          <a:prstGeom prst="line">
            <a:avLst/>
          </a:prstGeom>
          <a:noFill/>
          <a:ln w="45263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 flipV="1">
            <a:off x="10583266" y="566928"/>
            <a:ext cx="279806" cy="279806"/>
          </a:xfrm>
          <a:prstGeom prst="line">
            <a:avLst/>
          </a:prstGeom>
          <a:noFill/>
          <a:ln w="45263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108960"/>
            <a:ext cx="96012" cy="96012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66521" y="3108960"/>
            <a:ext cx="96012" cy="96012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292962" y="3108960"/>
            <a:ext cx="96012" cy="96012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619402" y="3108960"/>
            <a:ext cx="96012" cy="96012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945843" y="3108960"/>
            <a:ext cx="96012" cy="96012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03300" y="3419079"/>
            <a:ext cx="96012" cy="96012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129741" y="3419079"/>
            <a:ext cx="96012" cy="96012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456182" y="3419079"/>
            <a:ext cx="96012" cy="96012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782623" y="3419079"/>
            <a:ext cx="96012" cy="96012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0" descr="assets/hatch_gr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783080"/>
            <a:ext cx="1874520" cy="187452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989320" y="1737360"/>
            <a:ext cx="5852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200" b="1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</a:t>
            </a:r>
            <a:endParaRPr lang="en-US" sz="6200" dirty="0"/>
          </a:p>
        </p:txBody>
      </p:sp>
      <p:sp>
        <p:nvSpPr>
          <p:cNvPr id="24" name="Text 21"/>
          <p:cNvSpPr/>
          <p:nvPr/>
        </p:nvSpPr>
        <p:spPr>
          <a:xfrm>
            <a:off x="3429000" y="274320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200" b="1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endParaRPr lang="en-US" sz="6200" dirty="0"/>
          </a:p>
        </p:txBody>
      </p:sp>
      <p:sp>
        <p:nvSpPr>
          <p:cNvPr id="25" name="Shape 22"/>
          <p:cNvSpPr/>
          <p:nvPr/>
        </p:nvSpPr>
        <p:spPr>
          <a:xfrm>
            <a:off x="640080" y="5257800"/>
            <a:ext cx="502920" cy="54864"/>
          </a:xfrm>
          <a:prstGeom prst="rect">
            <a:avLst/>
          </a:prstGeom>
          <a:solidFill>
            <a:srgbClr val="00B3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40080" y="54406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management for a better quality of work life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6035040" y="580644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  Saruj Chutapornpong · Intern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82296" cy="82296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9886" y="502920"/>
            <a:ext cx="82296" cy="82296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99693" y="502920"/>
            <a:ext cx="82296" cy="82296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479499" y="502920"/>
            <a:ext cx="82296" cy="82296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759306" y="502920"/>
            <a:ext cx="82296" cy="82296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9983" y="768736"/>
            <a:ext cx="82296" cy="82296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59790" y="768736"/>
            <a:ext cx="82296" cy="82296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339596" y="768736"/>
            <a:ext cx="82296" cy="82296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619402" y="768736"/>
            <a:ext cx="82296" cy="82296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0080" y="5806440"/>
            <a:ext cx="279806" cy="279806"/>
          </a:xfrm>
          <a:prstGeom prst="line">
            <a:avLst/>
          </a:prstGeom>
          <a:noFill/>
          <a:ln w="45263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 flipV="1">
            <a:off x="640080" y="5806440"/>
            <a:ext cx="279806" cy="279806"/>
          </a:xfrm>
          <a:prstGeom prst="line">
            <a:avLst/>
          </a:prstGeom>
          <a:noFill/>
          <a:ln w="45263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50315" y="5806440"/>
            <a:ext cx="279806" cy="279806"/>
          </a:xfrm>
          <a:prstGeom prst="line">
            <a:avLst/>
          </a:prstGeom>
          <a:noFill/>
          <a:ln w="45263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 flipV="1">
            <a:off x="1150315" y="5806440"/>
            <a:ext cx="279806" cy="279806"/>
          </a:xfrm>
          <a:prstGeom prst="line">
            <a:avLst/>
          </a:prstGeom>
          <a:noFill/>
          <a:ln w="45263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660550" y="5806440"/>
            <a:ext cx="279806" cy="279806"/>
          </a:xfrm>
          <a:prstGeom prst="line">
            <a:avLst/>
          </a:prstGeom>
          <a:noFill/>
          <a:ln w="45263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 flipV="1">
            <a:off x="1660550" y="5806440"/>
            <a:ext cx="279806" cy="279806"/>
          </a:xfrm>
          <a:prstGeom prst="line">
            <a:avLst/>
          </a:prstGeom>
          <a:noFill/>
          <a:ln w="45263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170786" y="5806440"/>
            <a:ext cx="279806" cy="279806"/>
          </a:xfrm>
          <a:prstGeom prst="line">
            <a:avLst/>
          </a:prstGeom>
          <a:noFill/>
          <a:ln w="45263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 flipV="1">
            <a:off x="2170786" y="5806440"/>
            <a:ext cx="279806" cy="279806"/>
          </a:xfrm>
          <a:prstGeom prst="line">
            <a:avLst/>
          </a:prstGeom>
          <a:noFill/>
          <a:ln w="45263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0" descr="assets/hatch_gr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2210" y="-543509"/>
            <a:ext cx="1737360" cy="173736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40080" y="1874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0B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21792" y="21488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</a:t>
            </a:r>
            <a:endParaRPr lang="en-US" sz="4600" dirty="0"/>
          </a:p>
        </p:txBody>
      </p:sp>
      <p:sp>
        <p:nvSpPr>
          <p:cNvPr id="25" name="Text 22"/>
          <p:cNvSpPr/>
          <p:nvPr/>
        </p:nvSpPr>
        <p:spPr>
          <a:xfrm>
            <a:off x="640080" y="3154680"/>
            <a:ext cx="6492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Today, leave is manual. </a:t>
            </a:r>
            <a:r>
              <a:rPr lang="en-US" sz="1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DM your manager, and they jot it down by hand. Requests get lost, balances drift, and nothing lands on a calendar.</a:t>
            </a:r>
            <a:endParaRPr lang="en-US" sz="1900" dirty="0"/>
          </a:p>
        </p:txBody>
      </p:sp>
      <p:sp>
        <p:nvSpPr>
          <p:cNvPr id="26" name="Shape 23"/>
          <p:cNvSpPr/>
          <p:nvPr/>
        </p:nvSpPr>
        <p:spPr>
          <a:xfrm>
            <a:off x="640080" y="4572000"/>
            <a:ext cx="6492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9050">
            <a:solidFill>
              <a:srgbClr val="00B3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6868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B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68680" y="5029200"/>
            <a:ext cx="6035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Slack command. The manager approves or declines with a single click — then it auto-saves to the database and shows up on the calendar.</a:t>
            </a:r>
            <a:endParaRPr lang="en-US" sz="1550" dirty="0"/>
          </a:p>
        </p:txBody>
      </p:sp>
      <p:sp>
        <p:nvSpPr>
          <p:cNvPr id="29" name="Shape 26"/>
          <p:cNvSpPr/>
          <p:nvPr/>
        </p:nvSpPr>
        <p:spPr>
          <a:xfrm>
            <a:off x="7818120" y="2971800"/>
            <a:ext cx="37947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8092440" y="322783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LOOP, IN ONE CLICK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8458200" y="3886200"/>
            <a:ext cx="914400" cy="914400"/>
          </a:xfrm>
          <a:prstGeom prst="ellipse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8458200" y="3886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10058400" y="3886200"/>
            <a:ext cx="914400" cy="914400"/>
          </a:xfrm>
          <a:prstGeom prst="ellipse">
            <a:avLst/>
          </a:prstGeom>
          <a:solidFill>
            <a:srgbClr val="00B3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10058400" y="3886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MGR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9390888" y="4178808"/>
            <a:ext cx="658368" cy="0"/>
          </a:xfrm>
          <a:prstGeom prst="line">
            <a:avLst/>
          </a:prstGeom>
          <a:noFill/>
          <a:ln w="31750">
            <a:solidFill>
              <a:srgbClr val="11111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9390888" y="4489704"/>
            <a:ext cx="658368" cy="0"/>
          </a:xfrm>
          <a:prstGeom prst="line">
            <a:avLst/>
          </a:prstGeom>
          <a:noFill/>
          <a:ln w="31750">
            <a:solidFill>
              <a:srgbClr val="00B368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8321040" y="48463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9921240" y="48463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0225735" y="6062472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10225735" y="606247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TTMI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79806" cy="279806"/>
          </a:xfrm>
          <a:prstGeom prst="line">
            <a:avLst/>
          </a:prstGeom>
          <a:noFill/>
          <a:ln w="45263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flipV="1">
            <a:off x="640080" y="548640"/>
            <a:ext cx="279806" cy="279806"/>
          </a:xfrm>
          <a:prstGeom prst="line">
            <a:avLst/>
          </a:prstGeom>
          <a:noFill/>
          <a:ln w="45263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50315" y="548640"/>
            <a:ext cx="279806" cy="279806"/>
          </a:xfrm>
          <a:prstGeom prst="line">
            <a:avLst/>
          </a:prstGeom>
          <a:noFill/>
          <a:ln w="45263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flipV="1">
            <a:off x="1150315" y="548640"/>
            <a:ext cx="279806" cy="279806"/>
          </a:xfrm>
          <a:prstGeom prst="line">
            <a:avLst/>
          </a:prstGeom>
          <a:noFill/>
          <a:ln w="45263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660550" y="548640"/>
            <a:ext cx="279806" cy="279806"/>
          </a:xfrm>
          <a:prstGeom prst="line">
            <a:avLst/>
          </a:prstGeom>
          <a:noFill/>
          <a:ln w="45263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 flipV="1">
            <a:off x="1660550" y="548640"/>
            <a:ext cx="279806" cy="279806"/>
          </a:xfrm>
          <a:prstGeom prst="line">
            <a:avLst/>
          </a:prstGeom>
          <a:noFill/>
          <a:ln w="45263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170786" y="548640"/>
            <a:ext cx="279806" cy="279806"/>
          </a:xfrm>
          <a:prstGeom prst="line">
            <a:avLst/>
          </a:prstGeom>
          <a:noFill/>
          <a:ln w="45263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 flipV="1">
            <a:off x="2170786" y="548640"/>
            <a:ext cx="279806" cy="279806"/>
          </a:xfrm>
          <a:prstGeom prst="line">
            <a:avLst/>
          </a:prstGeom>
          <a:noFill/>
          <a:ln w="45263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686800" y="502920"/>
            <a:ext cx="82296" cy="82296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966606" y="502920"/>
            <a:ext cx="82296" cy="82296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246413" y="502920"/>
            <a:ext cx="82296" cy="82296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526219" y="502920"/>
            <a:ext cx="82296" cy="82296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06026" y="502920"/>
            <a:ext cx="82296" cy="82296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826703" y="768736"/>
            <a:ext cx="82296" cy="82296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106510" y="768736"/>
            <a:ext cx="82296" cy="82296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386316" y="768736"/>
            <a:ext cx="82296" cy="82296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666122" y="768736"/>
            <a:ext cx="82296" cy="82296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0" descr="assets/hatch_gr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0561" y="-301752"/>
            <a:ext cx="1463040" cy="14630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40080" y="1600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0B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WE'RE BUILDING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21792" y="18745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4600" dirty="0"/>
          </a:p>
        </p:txBody>
      </p:sp>
      <p:sp>
        <p:nvSpPr>
          <p:cNvPr id="23" name="Shape 20"/>
          <p:cNvSpPr/>
          <p:nvPr/>
        </p:nvSpPr>
        <p:spPr>
          <a:xfrm>
            <a:off x="640080" y="3200400"/>
            <a:ext cx="52120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841248" y="3364992"/>
            <a:ext cx="512064" cy="512064"/>
          </a:xfrm>
          <a:prstGeom prst="ellipse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41248" y="33649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554480" y="3200400"/>
            <a:ext cx="4114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Slack-native — no new app to learn</a:t>
            </a:r>
            <a:endParaRPr lang="en-US" sz="1550" dirty="0"/>
          </a:p>
        </p:txBody>
      </p:sp>
      <p:sp>
        <p:nvSpPr>
          <p:cNvPr id="27" name="Shape 24"/>
          <p:cNvSpPr/>
          <p:nvPr/>
        </p:nvSpPr>
        <p:spPr>
          <a:xfrm>
            <a:off x="640080" y="4297680"/>
            <a:ext cx="52120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841248" y="4462272"/>
            <a:ext cx="512064" cy="512064"/>
          </a:xfrm>
          <a:prstGeom prst="ellipse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841248" y="446227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554480" y="4297680"/>
            <a:ext cx="4114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small-to-medium teams</a:t>
            </a:r>
            <a:endParaRPr lang="en-US" sz="1550" dirty="0"/>
          </a:p>
        </p:txBody>
      </p:sp>
      <p:sp>
        <p:nvSpPr>
          <p:cNvPr id="31" name="Shape 28"/>
          <p:cNvSpPr/>
          <p:nvPr/>
        </p:nvSpPr>
        <p:spPr>
          <a:xfrm>
            <a:off x="640080" y="5394960"/>
            <a:ext cx="52120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841248" y="5559552"/>
            <a:ext cx="512064" cy="512064"/>
          </a:xfrm>
          <a:prstGeom prst="ellipse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841248" y="55595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1554480" y="5394960"/>
            <a:ext cx="4114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Covers the full leave-request cycle</a:t>
            </a:r>
            <a:endParaRPr lang="en-US" sz="1550" dirty="0"/>
          </a:p>
        </p:txBody>
      </p:sp>
      <p:sp>
        <p:nvSpPr>
          <p:cNvPr id="35" name="Shape 32"/>
          <p:cNvSpPr/>
          <p:nvPr/>
        </p:nvSpPr>
        <p:spPr>
          <a:xfrm>
            <a:off x="6309360" y="3200400"/>
            <a:ext cx="52120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6510528" y="3364992"/>
            <a:ext cx="512064" cy="512064"/>
          </a:xfrm>
          <a:prstGeom prst="ellipse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6510528" y="33649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7223760" y="3200400"/>
            <a:ext cx="4114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In-Slack admin control plane</a:t>
            </a:r>
            <a:endParaRPr lang="en-US" sz="1550" dirty="0"/>
          </a:p>
        </p:txBody>
      </p:sp>
      <p:sp>
        <p:nvSpPr>
          <p:cNvPr id="39" name="Shape 36"/>
          <p:cNvSpPr/>
          <p:nvPr/>
        </p:nvSpPr>
        <p:spPr>
          <a:xfrm>
            <a:off x="6309360" y="4297680"/>
            <a:ext cx="52120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6510528" y="4462272"/>
            <a:ext cx="512064" cy="512064"/>
          </a:xfrm>
          <a:prstGeom prst="ellipse">
            <a:avLst/>
          </a:prstGeom>
          <a:solidFill>
            <a:srgbClr val="00B3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6510528" y="446227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7223760" y="4297680"/>
            <a:ext cx="4114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 on the calendar and a sheet</a:t>
            </a:r>
            <a:endParaRPr lang="en-US" sz="1550" dirty="0"/>
          </a:p>
        </p:txBody>
      </p:sp>
      <p:sp>
        <p:nvSpPr>
          <p:cNvPr id="43" name="Shape 40"/>
          <p:cNvSpPr/>
          <p:nvPr/>
        </p:nvSpPr>
        <p:spPr>
          <a:xfrm>
            <a:off x="10225735" y="6062472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10225735" y="606247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TTMI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79806" cy="279806"/>
          </a:xfrm>
          <a:prstGeom prst="line">
            <a:avLst/>
          </a:prstGeom>
          <a:noFill/>
          <a:ln w="45263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flipV="1">
            <a:off x="640080" y="566928"/>
            <a:ext cx="279806" cy="279806"/>
          </a:xfrm>
          <a:prstGeom prst="line">
            <a:avLst/>
          </a:prstGeom>
          <a:noFill/>
          <a:ln w="45263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50315" y="566928"/>
            <a:ext cx="279806" cy="279806"/>
          </a:xfrm>
          <a:prstGeom prst="line">
            <a:avLst/>
          </a:prstGeom>
          <a:noFill/>
          <a:ln w="45263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flipV="1">
            <a:off x="1150315" y="566928"/>
            <a:ext cx="279806" cy="279806"/>
          </a:xfrm>
          <a:prstGeom prst="line">
            <a:avLst/>
          </a:prstGeom>
          <a:noFill/>
          <a:ln w="45263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660550" y="566928"/>
            <a:ext cx="279806" cy="279806"/>
          </a:xfrm>
          <a:prstGeom prst="line">
            <a:avLst/>
          </a:prstGeom>
          <a:noFill/>
          <a:ln w="45263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 flipV="1">
            <a:off x="1660550" y="566928"/>
            <a:ext cx="279806" cy="279806"/>
          </a:xfrm>
          <a:prstGeom prst="line">
            <a:avLst/>
          </a:prstGeom>
          <a:noFill/>
          <a:ln w="45263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418320" y="502920"/>
            <a:ext cx="82296" cy="82296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698126" y="502920"/>
            <a:ext cx="82296" cy="82296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977933" y="502920"/>
            <a:ext cx="82296" cy="82296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257739" y="502920"/>
            <a:ext cx="82296" cy="82296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537546" y="502920"/>
            <a:ext cx="82296" cy="82296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558223" y="768736"/>
            <a:ext cx="82296" cy="82296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38030" y="768736"/>
            <a:ext cx="82296" cy="82296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117836" y="768736"/>
            <a:ext cx="82296" cy="82296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397642" y="768736"/>
            <a:ext cx="82296" cy="82296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0" descr="assets/hatch_gr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40080" y="-640080"/>
            <a:ext cx="1737360" cy="17373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40080" y="1554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0B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OBVIOUS QUESTION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1792" y="18288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not just buy </a:t>
            </a:r>
            <a:r>
              <a:rPr lang="en-US" sz="4600" b="1" i="1" dirty="0">
                <a:solidFill>
                  <a:srgbClr val="00B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</a:t>
            </a:r>
            <a:r>
              <a:rPr lang="en-US" sz="4600" b="1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4600" dirty="0"/>
          </a:p>
        </p:txBody>
      </p:sp>
      <p:pic>
        <p:nvPicPr>
          <p:cNvPr id="20" name="Image 1" descr="assets/image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971800"/>
            <a:ext cx="3383280" cy="1435608"/>
          </a:xfrm>
          <a:prstGeom prst="rect">
            <a:avLst/>
          </a:prstGeom>
        </p:spPr>
      </p:pic>
      <p:pic>
        <p:nvPicPr>
          <p:cNvPr id="21" name="Image 2" descr="assets/image2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544568"/>
            <a:ext cx="3383280" cy="134416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0080" y="5943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Vacation Tracker · Flamingo — polished, but…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572000" y="2971800"/>
            <a:ext cx="69494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572000" y="3136392"/>
            <a:ext cx="82296" cy="722376"/>
          </a:xfrm>
          <a:prstGeom prst="rect">
            <a:avLst/>
          </a:prstGeom>
          <a:solidFill>
            <a:srgbClr val="00B3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4892040" y="311810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900" dirty="0"/>
          </a:p>
        </p:txBody>
      </p:sp>
      <p:sp>
        <p:nvSpPr>
          <p:cNvPr id="26" name="Text 21"/>
          <p:cNvSpPr/>
          <p:nvPr/>
        </p:nvSpPr>
        <p:spPr>
          <a:xfrm>
            <a:off x="4892040" y="348386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 pricing is too expensive for a small team.</a:t>
            </a:r>
            <a:endParaRPr lang="en-US" sz="1450" dirty="0"/>
          </a:p>
        </p:txBody>
      </p:sp>
      <p:sp>
        <p:nvSpPr>
          <p:cNvPr id="27" name="Shape 22"/>
          <p:cNvSpPr/>
          <p:nvPr/>
        </p:nvSpPr>
        <p:spPr>
          <a:xfrm>
            <a:off x="4572000" y="4279392"/>
            <a:ext cx="69494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4572000" y="4443984"/>
            <a:ext cx="82296" cy="722376"/>
          </a:xfrm>
          <a:prstGeom prst="rect">
            <a:avLst/>
          </a:prstGeom>
          <a:solidFill>
            <a:srgbClr val="00B3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4892040" y="4425696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</a:t>
            </a:r>
            <a:endParaRPr lang="en-US" sz="1900" dirty="0"/>
          </a:p>
        </p:txBody>
      </p:sp>
      <p:sp>
        <p:nvSpPr>
          <p:cNvPr id="30" name="Text 25"/>
          <p:cNvSpPr/>
          <p:nvPr/>
        </p:nvSpPr>
        <p:spPr>
          <a:xfrm>
            <a:off x="4892040" y="4791456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data is sensitive — we'd rather keep it in-house.</a:t>
            </a:r>
            <a:endParaRPr lang="en-US" sz="1450" dirty="0"/>
          </a:p>
        </p:txBody>
      </p:sp>
      <p:sp>
        <p:nvSpPr>
          <p:cNvPr id="31" name="Shape 26"/>
          <p:cNvSpPr/>
          <p:nvPr/>
        </p:nvSpPr>
        <p:spPr>
          <a:xfrm>
            <a:off x="4572000" y="5586984"/>
            <a:ext cx="69494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7"/>
          <p:cNvSpPr/>
          <p:nvPr/>
        </p:nvSpPr>
        <p:spPr>
          <a:xfrm>
            <a:off x="4572000" y="5751576"/>
            <a:ext cx="82296" cy="722376"/>
          </a:xfrm>
          <a:prstGeom prst="rect">
            <a:avLst/>
          </a:prstGeom>
          <a:solidFill>
            <a:srgbClr val="00B3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8"/>
          <p:cNvSpPr/>
          <p:nvPr/>
        </p:nvSpPr>
        <p:spPr>
          <a:xfrm>
            <a:off x="4892040" y="573328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fit</a:t>
            </a:r>
            <a:endParaRPr lang="en-US" sz="1900" dirty="0"/>
          </a:p>
        </p:txBody>
      </p:sp>
      <p:sp>
        <p:nvSpPr>
          <p:cNvPr id="34" name="Text 29"/>
          <p:cNvSpPr/>
          <p:nvPr/>
        </p:nvSpPr>
        <p:spPr>
          <a:xfrm>
            <a:off x="4892040" y="609904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Off-the-shelf tools rarely match our exact policy.</a:t>
            </a:r>
            <a:endParaRPr lang="en-US" sz="1450" dirty="0"/>
          </a:p>
        </p:txBody>
      </p:sp>
      <p:sp>
        <p:nvSpPr>
          <p:cNvPr id="35" name="Shape 30"/>
          <p:cNvSpPr/>
          <p:nvPr/>
        </p:nvSpPr>
        <p:spPr>
          <a:xfrm>
            <a:off x="10225735" y="6062472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/>
          <p:nvPr/>
        </p:nvSpPr>
        <p:spPr>
          <a:xfrm>
            <a:off x="10225735" y="606247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TTMI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82296" cy="82296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9886" y="548640"/>
            <a:ext cx="82296" cy="82296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99693" y="548640"/>
            <a:ext cx="82296" cy="82296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479499" y="548640"/>
            <a:ext cx="82296" cy="82296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759306" y="548640"/>
            <a:ext cx="82296" cy="82296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9983" y="814456"/>
            <a:ext cx="82296" cy="82296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59790" y="814456"/>
            <a:ext cx="82296" cy="82296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339596" y="814456"/>
            <a:ext cx="82296" cy="82296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619402" y="814456"/>
            <a:ext cx="82296" cy="82296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052560" y="566928"/>
            <a:ext cx="279806" cy="279806"/>
          </a:xfrm>
          <a:prstGeom prst="line">
            <a:avLst/>
          </a:prstGeom>
          <a:noFill/>
          <a:ln w="45263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 flipV="1">
            <a:off x="9052560" y="566928"/>
            <a:ext cx="279806" cy="279806"/>
          </a:xfrm>
          <a:prstGeom prst="line">
            <a:avLst/>
          </a:prstGeom>
          <a:noFill/>
          <a:ln w="45263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562795" y="566928"/>
            <a:ext cx="279806" cy="279806"/>
          </a:xfrm>
          <a:prstGeom prst="line">
            <a:avLst/>
          </a:prstGeom>
          <a:noFill/>
          <a:ln w="45263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 flipV="1">
            <a:off x="9562795" y="566928"/>
            <a:ext cx="279806" cy="279806"/>
          </a:xfrm>
          <a:prstGeom prst="line">
            <a:avLst/>
          </a:prstGeom>
          <a:noFill/>
          <a:ln w="45263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073030" y="566928"/>
            <a:ext cx="279806" cy="279806"/>
          </a:xfrm>
          <a:prstGeom prst="line">
            <a:avLst/>
          </a:prstGeom>
          <a:noFill/>
          <a:ln w="45263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 flipV="1">
            <a:off x="10073030" y="566928"/>
            <a:ext cx="279806" cy="279806"/>
          </a:xfrm>
          <a:prstGeom prst="line">
            <a:avLst/>
          </a:prstGeom>
          <a:noFill/>
          <a:ln w="45263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583266" y="566928"/>
            <a:ext cx="279806" cy="279806"/>
          </a:xfrm>
          <a:prstGeom prst="line">
            <a:avLst/>
          </a:prstGeom>
          <a:noFill/>
          <a:ln w="45263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 flipV="1">
            <a:off x="10583266" y="566928"/>
            <a:ext cx="279806" cy="279806"/>
          </a:xfrm>
          <a:prstGeom prst="line">
            <a:avLst/>
          </a:prstGeom>
          <a:noFill/>
          <a:ln w="45263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0" descr="assets/hatch_gr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04" y="-598932"/>
            <a:ext cx="1737360" cy="173736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40080" y="1691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0B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DECIDED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21792" y="19659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Principles</a:t>
            </a:r>
            <a:endParaRPr lang="en-US" sz="4400" dirty="0"/>
          </a:p>
        </p:txBody>
      </p:sp>
      <p:sp>
        <p:nvSpPr>
          <p:cNvPr id="23" name="Shape 20"/>
          <p:cNvSpPr/>
          <p:nvPr/>
        </p:nvSpPr>
        <p:spPr>
          <a:xfrm>
            <a:off x="640080" y="3108960"/>
            <a:ext cx="1691640" cy="749808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 w="1778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40080" y="3108960"/>
            <a:ext cx="1691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2606040" y="3108960"/>
            <a:ext cx="8778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Pay-per-use — you only pay for what you run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640080" y="4005072"/>
            <a:ext cx="1691640" cy="7498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40080" y="4005072"/>
            <a:ext cx="1691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2606040" y="4005072"/>
            <a:ext cx="8778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Lives inside Slack, where people already are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640080" y="4901184"/>
            <a:ext cx="1691640" cy="749808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 w="1778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40080" y="4901184"/>
            <a:ext cx="1691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2606040" y="4901184"/>
            <a:ext cx="8778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Fits our exact rules — no bending policy to a product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640080" y="5797296"/>
            <a:ext cx="1691640" cy="7498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40080" y="5797296"/>
            <a:ext cx="1691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2606040" y="5797296"/>
            <a:ext cx="8778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own the data and the logic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>
            <a:off x="10225735" y="6062472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10225735" y="606247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TTMI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 0" descr="assets/hatch_grey.png">
            <a:extLst>
              <a:ext uri="{FF2B5EF4-FFF2-40B4-BE49-F238E27FC236}">
                <a16:creationId xmlns:a16="http://schemas.microsoft.com/office/drawing/2014/main" id="{A6CD4A4F-854E-EB26-2BC5-39238AA65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48640" y="-640080"/>
            <a:ext cx="1737360" cy="1737360"/>
          </a:xfrm>
          <a:prstGeom prst="rect">
            <a:avLst/>
          </a:prstGeom>
        </p:spPr>
      </p:pic>
      <p:sp>
        <p:nvSpPr>
          <p:cNvPr id="37" name="Shape 0">
            <a:extLst>
              <a:ext uri="{FF2B5EF4-FFF2-40B4-BE49-F238E27FC236}">
                <a16:creationId xmlns:a16="http://schemas.microsoft.com/office/drawing/2014/main" id="{31248540-706F-BABD-DE66-A894DF9C3822}"/>
              </a:ext>
            </a:extLst>
          </p:cNvPr>
          <p:cNvSpPr/>
          <p:nvPr/>
        </p:nvSpPr>
        <p:spPr>
          <a:xfrm>
            <a:off x="1828800" y="566928"/>
            <a:ext cx="279806" cy="279806"/>
          </a:xfrm>
          <a:prstGeom prst="line">
            <a:avLst/>
          </a:prstGeom>
          <a:noFill/>
          <a:ln w="45263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1">
            <a:extLst>
              <a:ext uri="{FF2B5EF4-FFF2-40B4-BE49-F238E27FC236}">
                <a16:creationId xmlns:a16="http://schemas.microsoft.com/office/drawing/2014/main" id="{90B5B736-89BF-7E78-B68A-16631A4019CE}"/>
              </a:ext>
            </a:extLst>
          </p:cNvPr>
          <p:cNvSpPr/>
          <p:nvPr/>
        </p:nvSpPr>
        <p:spPr>
          <a:xfrm flipV="1">
            <a:off x="1828800" y="566928"/>
            <a:ext cx="279806" cy="279806"/>
          </a:xfrm>
          <a:prstGeom prst="line">
            <a:avLst/>
          </a:prstGeom>
          <a:noFill/>
          <a:ln w="45263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2">
            <a:extLst>
              <a:ext uri="{FF2B5EF4-FFF2-40B4-BE49-F238E27FC236}">
                <a16:creationId xmlns:a16="http://schemas.microsoft.com/office/drawing/2014/main" id="{D24C9B52-14AF-491A-5D26-809FC2C953AD}"/>
              </a:ext>
            </a:extLst>
          </p:cNvPr>
          <p:cNvSpPr/>
          <p:nvPr/>
        </p:nvSpPr>
        <p:spPr>
          <a:xfrm>
            <a:off x="2339035" y="566928"/>
            <a:ext cx="279806" cy="279806"/>
          </a:xfrm>
          <a:prstGeom prst="line">
            <a:avLst/>
          </a:prstGeom>
          <a:noFill/>
          <a:ln w="45263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3">
            <a:extLst>
              <a:ext uri="{FF2B5EF4-FFF2-40B4-BE49-F238E27FC236}">
                <a16:creationId xmlns:a16="http://schemas.microsoft.com/office/drawing/2014/main" id="{89652D5E-27AD-422B-4D5C-CE9D07C57091}"/>
              </a:ext>
            </a:extLst>
          </p:cNvPr>
          <p:cNvSpPr/>
          <p:nvPr/>
        </p:nvSpPr>
        <p:spPr>
          <a:xfrm flipV="1">
            <a:off x="2339035" y="566928"/>
            <a:ext cx="279806" cy="279806"/>
          </a:xfrm>
          <a:prstGeom prst="line">
            <a:avLst/>
          </a:prstGeom>
          <a:noFill/>
          <a:ln w="45263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">
            <a:extLst>
              <a:ext uri="{FF2B5EF4-FFF2-40B4-BE49-F238E27FC236}">
                <a16:creationId xmlns:a16="http://schemas.microsoft.com/office/drawing/2014/main" id="{23699D5F-A780-90B2-F860-F5DA989AD396}"/>
              </a:ext>
            </a:extLst>
          </p:cNvPr>
          <p:cNvSpPr/>
          <p:nvPr/>
        </p:nvSpPr>
        <p:spPr>
          <a:xfrm>
            <a:off x="2849270" y="566928"/>
            <a:ext cx="279806" cy="279806"/>
          </a:xfrm>
          <a:prstGeom prst="line">
            <a:avLst/>
          </a:prstGeom>
          <a:noFill/>
          <a:ln w="45263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5">
            <a:extLst>
              <a:ext uri="{FF2B5EF4-FFF2-40B4-BE49-F238E27FC236}">
                <a16:creationId xmlns:a16="http://schemas.microsoft.com/office/drawing/2014/main" id="{8F4ACA00-072E-733A-C30C-ADD579D43A0B}"/>
              </a:ext>
            </a:extLst>
          </p:cNvPr>
          <p:cNvSpPr/>
          <p:nvPr/>
        </p:nvSpPr>
        <p:spPr>
          <a:xfrm flipV="1">
            <a:off x="2849270" y="566928"/>
            <a:ext cx="279806" cy="279806"/>
          </a:xfrm>
          <a:prstGeom prst="line">
            <a:avLst/>
          </a:prstGeom>
          <a:noFill/>
          <a:ln w="45263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6">
            <a:extLst>
              <a:ext uri="{FF2B5EF4-FFF2-40B4-BE49-F238E27FC236}">
                <a16:creationId xmlns:a16="http://schemas.microsoft.com/office/drawing/2014/main" id="{E1885FDD-D7EF-BEBE-22CB-40FC7292E04C}"/>
              </a:ext>
            </a:extLst>
          </p:cNvPr>
          <p:cNvSpPr/>
          <p:nvPr/>
        </p:nvSpPr>
        <p:spPr>
          <a:xfrm>
            <a:off x="3359506" y="566928"/>
            <a:ext cx="279806" cy="279806"/>
          </a:xfrm>
          <a:prstGeom prst="line">
            <a:avLst/>
          </a:prstGeom>
          <a:noFill/>
          <a:ln w="45263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7">
            <a:extLst>
              <a:ext uri="{FF2B5EF4-FFF2-40B4-BE49-F238E27FC236}">
                <a16:creationId xmlns:a16="http://schemas.microsoft.com/office/drawing/2014/main" id="{2308655F-5409-C808-7B50-CC02D7F84EB1}"/>
              </a:ext>
            </a:extLst>
          </p:cNvPr>
          <p:cNvSpPr/>
          <p:nvPr/>
        </p:nvSpPr>
        <p:spPr>
          <a:xfrm flipV="1">
            <a:off x="3359506" y="566928"/>
            <a:ext cx="279806" cy="279806"/>
          </a:xfrm>
          <a:prstGeom prst="line">
            <a:avLst/>
          </a:prstGeom>
          <a:noFill/>
          <a:ln w="45263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11">
            <a:extLst>
              <a:ext uri="{FF2B5EF4-FFF2-40B4-BE49-F238E27FC236}">
                <a16:creationId xmlns:a16="http://schemas.microsoft.com/office/drawing/2014/main" id="{CC4AEC49-5EE3-E050-F3CE-4BC3C9183FE0}"/>
              </a:ext>
            </a:extLst>
          </p:cNvPr>
          <p:cNvSpPr/>
          <p:nvPr/>
        </p:nvSpPr>
        <p:spPr>
          <a:xfrm>
            <a:off x="640080" y="1463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0B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COMMANDS, TWO GROUPS</a:t>
            </a:r>
            <a:endParaRPr lang="en-US" sz="1200" dirty="0"/>
          </a:p>
        </p:txBody>
      </p:sp>
      <p:sp>
        <p:nvSpPr>
          <p:cNvPr id="61" name="Text 12">
            <a:extLst>
              <a:ext uri="{FF2B5EF4-FFF2-40B4-BE49-F238E27FC236}">
                <a16:creationId xmlns:a16="http://schemas.microsoft.com/office/drawing/2014/main" id="{AEB1B978-065E-58F7-0E08-843E09A6929A}"/>
              </a:ext>
            </a:extLst>
          </p:cNvPr>
          <p:cNvSpPr/>
          <p:nvPr/>
        </p:nvSpPr>
        <p:spPr>
          <a:xfrm>
            <a:off x="621792" y="17373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Functions</a:t>
            </a:r>
            <a:endParaRPr lang="en-US" sz="4400" dirty="0"/>
          </a:p>
        </p:txBody>
      </p:sp>
      <p:sp>
        <p:nvSpPr>
          <p:cNvPr id="63" name="Text 13">
            <a:extLst>
              <a:ext uri="{FF2B5EF4-FFF2-40B4-BE49-F238E27FC236}">
                <a16:creationId xmlns:a16="http://schemas.microsoft.com/office/drawing/2014/main" id="{A33F8D41-F602-F801-33AD-3E0F98ACD9B9}"/>
              </a:ext>
            </a:extLst>
          </p:cNvPr>
          <p:cNvSpPr/>
          <p:nvPr/>
        </p:nvSpPr>
        <p:spPr>
          <a:xfrm>
            <a:off x="640080" y="2606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EVERYONE</a:t>
            </a:r>
            <a:endParaRPr lang="en-US" sz="1200" dirty="0"/>
          </a:p>
        </p:txBody>
      </p:sp>
      <p:sp>
        <p:nvSpPr>
          <p:cNvPr id="65" name="Shape 14">
            <a:extLst>
              <a:ext uri="{FF2B5EF4-FFF2-40B4-BE49-F238E27FC236}">
                <a16:creationId xmlns:a16="http://schemas.microsoft.com/office/drawing/2014/main" id="{F583208C-C3EE-0D89-0886-1D1FC7478543}"/>
              </a:ext>
            </a:extLst>
          </p:cNvPr>
          <p:cNvSpPr/>
          <p:nvPr/>
        </p:nvSpPr>
        <p:spPr>
          <a:xfrm>
            <a:off x="640080" y="2907792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00B368"/>
          </a:solidFill>
          <a:ln w="17780">
            <a:solidFill>
              <a:srgbClr val="00B3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15">
            <a:extLst>
              <a:ext uri="{FF2B5EF4-FFF2-40B4-BE49-F238E27FC236}">
                <a16:creationId xmlns:a16="http://schemas.microsoft.com/office/drawing/2014/main" id="{E4FFF07A-62EC-AB30-7D9B-89F56252EA65}"/>
              </a:ext>
            </a:extLst>
          </p:cNvPr>
          <p:cNvSpPr/>
          <p:nvPr/>
        </p:nvSpPr>
        <p:spPr>
          <a:xfrm>
            <a:off x="640080" y="2907792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/dayoff</a:t>
            </a:r>
            <a:endParaRPr lang="en-US" sz="1500" dirty="0"/>
          </a:p>
        </p:txBody>
      </p:sp>
      <p:sp>
        <p:nvSpPr>
          <p:cNvPr id="69" name="Text 16">
            <a:extLst>
              <a:ext uri="{FF2B5EF4-FFF2-40B4-BE49-F238E27FC236}">
                <a16:creationId xmlns:a16="http://schemas.microsoft.com/office/drawing/2014/main" id="{E4E23D5A-8F00-EEE2-EFFF-EFA9A7E82CCA}"/>
              </a:ext>
            </a:extLst>
          </p:cNvPr>
          <p:cNvSpPr/>
          <p:nvPr/>
        </p:nvSpPr>
        <p:spPr>
          <a:xfrm>
            <a:off x="3246120" y="2907792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request modal</a:t>
            </a:r>
            <a:endParaRPr lang="en-US" sz="1550" dirty="0"/>
          </a:p>
        </p:txBody>
      </p:sp>
      <p:sp>
        <p:nvSpPr>
          <p:cNvPr id="71" name="Shape 17">
            <a:extLst>
              <a:ext uri="{FF2B5EF4-FFF2-40B4-BE49-F238E27FC236}">
                <a16:creationId xmlns:a16="http://schemas.microsoft.com/office/drawing/2014/main" id="{2393B73D-0EB1-8C2A-A440-2C3B5D19A217}"/>
              </a:ext>
            </a:extLst>
          </p:cNvPr>
          <p:cNvSpPr/>
          <p:nvPr/>
        </p:nvSpPr>
        <p:spPr>
          <a:xfrm>
            <a:off x="640080" y="3547872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18">
            <a:extLst>
              <a:ext uri="{FF2B5EF4-FFF2-40B4-BE49-F238E27FC236}">
                <a16:creationId xmlns:a16="http://schemas.microsoft.com/office/drawing/2014/main" id="{68BBFD56-6F08-324C-038D-CF0FFC2372E4}"/>
              </a:ext>
            </a:extLst>
          </p:cNvPr>
          <p:cNvSpPr/>
          <p:nvPr/>
        </p:nvSpPr>
        <p:spPr>
          <a:xfrm>
            <a:off x="640080" y="3547872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/dayoff-cancel</a:t>
            </a:r>
            <a:endParaRPr lang="en-US" sz="1500" dirty="0"/>
          </a:p>
        </p:txBody>
      </p:sp>
      <p:sp>
        <p:nvSpPr>
          <p:cNvPr id="75" name="Text 19">
            <a:extLst>
              <a:ext uri="{FF2B5EF4-FFF2-40B4-BE49-F238E27FC236}">
                <a16:creationId xmlns:a16="http://schemas.microsoft.com/office/drawing/2014/main" id="{DD20FEC5-289F-50DB-8DE1-DB41B25122BD}"/>
              </a:ext>
            </a:extLst>
          </p:cNvPr>
          <p:cNvSpPr/>
          <p:nvPr/>
        </p:nvSpPr>
        <p:spPr>
          <a:xfrm>
            <a:off x="3246120" y="3547872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 a pending request, or early-return an active leave</a:t>
            </a:r>
            <a:endParaRPr lang="en-US" sz="1550" dirty="0"/>
          </a:p>
        </p:txBody>
      </p:sp>
      <p:sp>
        <p:nvSpPr>
          <p:cNvPr id="77" name="Shape 20">
            <a:extLst>
              <a:ext uri="{FF2B5EF4-FFF2-40B4-BE49-F238E27FC236}">
                <a16:creationId xmlns:a16="http://schemas.microsoft.com/office/drawing/2014/main" id="{DCD67EF6-EE75-3D32-5349-E77691C61375}"/>
              </a:ext>
            </a:extLst>
          </p:cNvPr>
          <p:cNvSpPr/>
          <p:nvPr/>
        </p:nvSpPr>
        <p:spPr>
          <a:xfrm>
            <a:off x="640080" y="4187952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21">
            <a:extLst>
              <a:ext uri="{FF2B5EF4-FFF2-40B4-BE49-F238E27FC236}">
                <a16:creationId xmlns:a16="http://schemas.microsoft.com/office/drawing/2014/main" id="{EAD21147-CFF7-A7F0-18DA-2A622F24A1A2}"/>
              </a:ext>
            </a:extLst>
          </p:cNvPr>
          <p:cNvSpPr/>
          <p:nvPr/>
        </p:nvSpPr>
        <p:spPr>
          <a:xfrm>
            <a:off x="640080" y="4187952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/advance</a:t>
            </a:r>
            <a:endParaRPr lang="en-US" sz="1500" dirty="0"/>
          </a:p>
        </p:txBody>
      </p:sp>
      <p:sp>
        <p:nvSpPr>
          <p:cNvPr id="81" name="Text 22">
            <a:extLst>
              <a:ext uri="{FF2B5EF4-FFF2-40B4-BE49-F238E27FC236}">
                <a16:creationId xmlns:a16="http://schemas.microsoft.com/office/drawing/2014/main" id="{888FD8DB-1C76-1679-44ED-5C22672F3064}"/>
              </a:ext>
            </a:extLst>
          </p:cNvPr>
          <p:cNvSpPr/>
          <p:nvPr/>
        </p:nvSpPr>
        <p:spPr>
          <a:xfrm>
            <a:off x="3246120" y="4187952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Optimizer — find your longest possible break</a:t>
            </a:r>
            <a:endParaRPr lang="en-US" sz="1550" dirty="0"/>
          </a:p>
        </p:txBody>
      </p:sp>
      <p:sp>
        <p:nvSpPr>
          <p:cNvPr id="83" name="Text 23">
            <a:extLst>
              <a:ext uri="{FF2B5EF4-FFF2-40B4-BE49-F238E27FC236}">
                <a16:creationId xmlns:a16="http://schemas.microsoft.com/office/drawing/2014/main" id="{52D96EC7-CD3D-2082-0AB6-B8517FED1270}"/>
              </a:ext>
            </a:extLst>
          </p:cNvPr>
          <p:cNvSpPr/>
          <p:nvPr/>
        </p:nvSpPr>
        <p:spPr>
          <a:xfrm>
            <a:off x="662940" y="50932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ADMINS &amp; MANAGERS</a:t>
            </a:r>
            <a:endParaRPr lang="en-US" sz="1200" dirty="0"/>
          </a:p>
        </p:txBody>
      </p:sp>
      <p:sp>
        <p:nvSpPr>
          <p:cNvPr id="85" name="Shape 24">
            <a:extLst>
              <a:ext uri="{FF2B5EF4-FFF2-40B4-BE49-F238E27FC236}">
                <a16:creationId xmlns:a16="http://schemas.microsoft.com/office/drawing/2014/main" id="{7036A7F9-BA0B-EBDE-8A8A-569E0ECC9548}"/>
              </a:ext>
            </a:extLst>
          </p:cNvPr>
          <p:cNvSpPr/>
          <p:nvPr/>
        </p:nvSpPr>
        <p:spPr>
          <a:xfrm>
            <a:off x="662940" y="5458968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25">
            <a:extLst>
              <a:ext uri="{FF2B5EF4-FFF2-40B4-BE49-F238E27FC236}">
                <a16:creationId xmlns:a16="http://schemas.microsoft.com/office/drawing/2014/main" id="{6CE86220-E38A-2077-0129-4547A6CCC03E}"/>
              </a:ext>
            </a:extLst>
          </p:cNvPr>
          <p:cNvSpPr/>
          <p:nvPr/>
        </p:nvSpPr>
        <p:spPr>
          <a:xfrm>
            <a:off x="662940" y="5458968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/control</a:t>
            </a:r>
            <a:endParaRPr lang="en-US" sz="1500" dirty="0"/>
          </a:p>
        </p:txBody>
      </p:sp>
      <p:sp>
        <p:nvSpPr>
          <p:cNvPr id="89" name="Text 26">
            <a:extLst>
              <a:ext uri="{FF2B5EF4-FFF2-40B4-BE49-F238E27FC236}">
                <a16:creationId xmlns:a16="http://schemas.microsoft.com/office/drawing/2014/main" id="{5A6B3081-88C2-0BA1-13EF-79E237F7C9F6}"/>
              </a:ext>
            </a:extLst>
          </p:cNvPr>
          <p:cNvSpPr/>
          <p:nvPr/>
        </p:nvSpPr>
        <p:spPr>
          <a:xfrm>
            <a:off x="3246120" y="5477256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control plane: policy, holidays, reports &amp; more</a:t>
            </a:r>
            <a:endParaRPr lang="en-US" sz="1550" dirty="0"/>
          </a:p>
        </p:txBody>
      </p:sp>
      <p:sp>
        <p:nvSpPr>
          <p:cNvPr id="91" name="Shape 27">
            <a:extLst>
              <a:ext uri="{FF2B5EF4-FFF2-40B4-BE49-F238E27FC236}">
                <a16:creationId xmlns:a16="http://schemas.microsoft.com/office/drawing/2014/main" id="{A14DC624-49E8-D155-FDE8-D41C25352886}"/>
              </a:ext>
            </a:extLst>
          </p:cNvPr>
          <p:cNvSpPr/>
          <p:nvPr/>
        </p:nvSpPr>
        <p:spPr>
          <a:xfrm>
            <a:off x="662940" y="6099048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28">
            <a:extLst>
              <a:ext uri="{FF2B5EF4-FFF2-40B4-BE49-F238E27FC236}">
                <a16:creationId xmlns:a16="http://schemas.microsoft.com/office/drawing/2014/main" id="{CB86D167-70DA-8550-3FD6-0BB4159352C6}"/>
              </a:ext>
            </a:extLst>
          </p:cNvPr>
          <p:cNvSpPr/>
          <p:nvPr/>
        </p:nvSpPr>
        <p:spPr>
          <a:xfrm>
            <a:off x="662940" y="6099048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/burnout</a:t>
            </a:r>
            <a:endParaRPr lang="en-US" sz="1500" dirty="0"/>
          </a:p>
        </p:txBody>
      </p:sp>
      <p:sp>
        <p:nvSpPr>
          <p:cNvPr id="95" name="Text 29">
            <a:extLst>
              <a:ext uri="{FF2B5EF4-FFF2-40B4-BE49-F238E27FC236}">
                <a16:creationId xmlns:a16="http://schemas.microsoft.com/office/drawing/2014/main" id="{500B63CE-7F7E-7511-69B1-133265B56882}"/>
              </a:ext>
            </a:extLst>
          </p:cNvPr>
          <p:cNvSpPr/>
          <p:nvPr/>
        </p:nvSpPr>
        <p:spPr>
          <a:xfrm>
            <a:off x="3246120" y="6117336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team burnout risk and nudge people to rest</a:t>
            </a:r>
            <a:endParaRPr lang="en-US" sz="1550" dirty="0"/>
          </a:p>
        </p:txBody>
      </p:sp>
      <p:sp>
        <p:nvSpPr>
          <p:cNvPr id="97" name="Shape 30">
            <a:extLst>
              <a:ext uri="{FF2B5EF4-FFF2-40B4-BE49-F238E27FC236}">
                <a16:creationId xmlns:a16="http://schemas.microsoft.com/office/drawing/2014/main" id="{3D83A7E9-39E7-BAF9-AE6F-43FBA44FD653}"/>
              </a:ext>
            </a:extLst>
          </p:cNvPr>
          <p:cNvSpPr/>
          <p:nvPr/>
        </p:nvSpPr>
        <p:spPr>
          <a:xfrm>
            <a:off x="10225735" y="6062472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Text 31">
            <a:extLst>
              <a:ext uri="{FF2B5EF4-FFF2-40B4-BE49-F238E27FC236}">
                <a16:creationId xmlns:a16="http://schemas.microsoft.com/office/drawing/2014/main" id="{69B6566B-B537-786C-8BA1-53DBE283AE14}"/>
              </a:ext>
            </a:extLst>
          </p:cNvPr>
          <p:cNvSpPr/>
          <p:nvPr/>
        </p:nvSpPr>
        <p:spPr>
          <a:xfrm>
            <a:off x="10225735" y="606247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TTMI</a:t>
            </a:r>
            <a:endParaRPr lang="en-US" sz="1100" dirty="0"/>
          </a:p>
        </p:txBody>
      </p:sp>
      <p:sp>
        <p:nvSpPr>
          <p:cNvPr id="114" name="Shape 6">
            <a:extLst>
              <a:ext uri="{FF2B5EF4-FFF2-40B4-BE49-F238E27FC236}">
                <a16:creationId xmlns:a16="http://schemas.microsoft.com/office/drawing/2014/main" id="{829E7BCD-14FC-F77D-8D6B-85AC575C8F08}"/>
              </a:ext>
            </a:extLst>
          </p:cNvPr>
          <p:cNvSpPr/>
          <p:nvPr/>
        </p:nvSpPr>
        <p:spPr>
          <a:xfrm>
            <a:off x="9418320" y="502920"/>
            <a:ext cx="82296" cy="82296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Shape 7">
            <a:extLst>
              <a:ext uri="{FF2B5EF4-FFF2-40B4-BE49-F238E27FC236}">
                <a16:creationId xmlns:a16="http://schemas.microsoft.com/office/drawing/2014/main" id="{05123895-035A-C301-59F1-A6EA42A9DF21}"/>
              </a:ext>
            </a:extLst>
          </p:cNvPr>
          <p:cNvSpPr/>
          <p:nvPr/>
        </p:nvSpPr>
        <p:spPr>
          <a:xfrm>
            <a:off x="9698126" y="502920"/>
            <a:ext cx="82296" cy="82296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" name="Shape 8">
            <a:extLst>
              <a:ext uri="{FF2B5EF4-FFF2-40B4-BE49-F238E27FC236}">
                <a16:creationId xmlns:a16="http://schemas.microsoft.com/office/drawing/2014/main" id="{2BE1DA08-A04E-C831-60C0-F9734C636099}"/>
              </a:ext>
            </a:extLst>
          </p:cNvPr>
          <p:cNvSpPr/>
          <p:nvPr/>
        </p:nvSpPr>
        <p:spPr>
          <a:xfrm>
            <a:off x="9977933" y="502920"/>
            <a:ext cx="82296" cy="82296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" name="Shape 9">
            <a:extLst>
              <a:ext uri="{FF2B5EF4-FFF2-40B4-BE49-F238E27FC236}">
                <a16:creationId xmlns:a16="http://schemas.microsoft.com/office/drawing/2014/main" id="{FBCF8124-A822-469D-0BA6-7932DD6DB7E2}"/>
              </a:ext>
            </a:extLst>
          </p:cNvPr>
          <p:cNvSpPr/>
          <p:nvPr/>
        </p:nvSpPr>
        <p:spPr>
          <a:xfrm>
            <a:off x="10257739" y="502920"/>
            <a:ext cx="82296" cy="82296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" name="Shape 10">
            <a:extLst>
              <a:ext uri="{FF2B5EF4-FFF2-40B4-BE49-F238E27FC236}">
                <a16:creationId xmlns:a16="http://schemas.microsoft.com/office/drawing/2014/main" id="{D6AAB727-852B-9D38-25F8-0B28873F1A2B}"/>
              </a:ext>
            </a:extLst>
          </p:cNvPr>
          <p:cNvSpPr/>
          <p:nvPr/>
        </p:nvSpPr>
        <p:spPr>
          <a:xfrm>
            <a:off x="10537546" y="502920"/>
            <a:ext cx="82296" cy="82296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" name="Shape 11">
            <a:extLst>
              <a:ext uri="{FF2B5EF4-FFF2-40B4-BE49-F238E27FC236}">
                <a16:creationId xmlns:a16="http://schemas.microsoft.com/office/drawing/2014/main" id="{67B320BE-14B1-59D0-6C54-FA59BD66C890}"/>
              </a:ext>
            </a:extLst>
          </p:cNvPr>
          <p:cNvSpPr/>
          <p:nvPr/>
        </p:nvSpPr>
        <p:spPr>
          <a:xfrm>
            <a:off x="9558223" y="768736"/>
            <a:ext cx="82296" cy="82296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" name="Shape 12">
            <a:extLst>
              <a:ext uri="{FF2B5EF4-FFF2-40B4-BE49-F238E27FC236}">
                <a16:creationId xmlns:a16="http://schemas.microsoft.com/office/drawing/2014/main" id="{EE8BA4AB-1CA8-5922-39F3-0B17E7F1C822}"/>
              </a:ext>
            </a:extLst>
          </p:cNvPr>
          <p:cNvSpPr/>
          <p:nvPr/>
        </p:nvSpPr>
        <p:spPr>
          <a:xfrm>
            <a:off x="9838030" y="768736"/>
            <a:ext cx="82296" cy="82296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" name="Shape 13">
            <a:extLst>
              <a:ext uri="{FF2B5EF4-FFF2-40B4-BE49-F238E27FC236}">
                <a16:creationId xmlns:a16="http://schemas.microsoft.com/office/drawing/2014/main" id="{193BC639-9D43-DBB3-D6F3-83F2C7495A02}"/>
              </a:ext>
            </a:extLst>
          </p:cNvPr>
          <p:cNvSpPr/>
          <p:nvPr/>
        </p:nvSpPr>
        <p:spPr>
          <a:xfrm>
            <a:off x="10117836" y="768736"/>
            <a:ext cx="82296" cy="82296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" name="Shape 14">
            <a:extLst>
              <a:ext uri="{FF2B5EF4-FFF2-40B4-BE49-F238E27FC236}">
                <a16:creationId xmlns:a16="http://schemas.microsoft.com/office/drawing/2014/main" id="{6EFADD99-3F50-9B13-28E7-EE117A4CC583}"/>
              </a:ext>
            </a:extLst>
          </p:cNvPr>
          <p:cNvSpPr/>
          <p:nvPr/>
        </p:nvSpPr>
        <p:spPr>
          <a:xfrm>
            <a:off x="10397642" y="768736"/>
            <a:ext cx="82296" cy="82296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0">
            <a:extLst>
              <a:ext uri="{FF2B5EF4-FFF2-40B4-BE49-F238E27FC236}">
                <a16:creationId xmlns:a16="http://schemas.microsoft.com/office/drawing/2014/main" id="{1B8EA1C1-D90B-9AB9-22B8-7CD9822E5354}"/>
              </a:ext>
            </a:extLst>
          </p:cNvPr>
          <p:cNvSpPr/>
          <p:nvPr/>
        </p:nvSpPr>
        <p:spPr>
          <a:xfrm>
            <a:off x="-1188720" y="-1280160"/>
            <a:ext cx="2926080" cy="2926080"/>
          </a:xfrm>
          <a:prstGeom prst="blockArc">
            <a:avLst>
              <a:gd name="adj1" fmla="val 12300000"/>
              <a:gd name="adj2" fmla="val 7500000"/>
              <a:gd name="adj3" fmla="val 31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1">
            <a:extLst>
              <a:ext uri="{FF2B5EF4-FFF2-40B4-BE49-F238E27FC236}">
                <a16:creationId xmlns:a16="http://schemas.microsoft.com/office/drawing/2014/main" id="{EBDDFF1B-0B00-4EB3-ECDF-0D7B7B83255F}"/>
              </a:ext>
            </a:extLst>
          </p:cNvPr>
          <p:cNvSpPr/>
          <p:nvPr/>
        </p:nvSpPr>
        <p:spPr>
          <a:xfrm rot="14722844">
            <a:off x="10424160" y="5029200"/>
            <a:ext cx="2926080" cy="2926080"/>
          </a:xfrm>
          <a:prstGeom prst="blockArc">
            <a:avLst>
              <a:gd name="adj1" fmla="val 12300000"/>
              <a:gd name="adj2" fmla="val 7500000"/>
              <a:gd name="adj3" fmla="val 31000"/>
            </a:avLst>
          </a:prstGeom>
          <a:solidFill>
            <a:srgbClr val="00B3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1D2AE48A-5F4D-E86B-BB3F-EAE50A559911}"/>
              </a:ext>
            </a:extLst>
          </p:cNvPr>
          <p:cNvSpPr/>
          <p:nvPr/>
        </p:nvSpPr>
        <p:spPr>
          <a:xfrm>
            <a:off x="685800" y="5806440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3">
            <a:extLst>
              <a:ext uri="{FF2B5EF4-FFF2-40B4-BE49-F238E27FC236}">
                <a16:creationId xmlns:a16="http://schemas.microsoft.com/office/drawing/2014/main" id="{4F3A9747-CBB4-C1FC-1C14-76E884108FEB}"/>
              </a:ext>
            </a:extLst>
          </p:cNvPr>
          <p:cNvSpPr/>
          <p:nvPr/>
        </p:nvSpPr>
        <p:spPr>
          <a:xfrm>
            <a:off x="965606" y="5806440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4">
            <a:extLst>
              <a:ext uri="{FF2B5EF4-FFF2-40B4-BE49-F238E27FC236}">
                <a16:creationId xmlns:a16="http://schemas.microsoft.com/office/drawing/2014/main" id="{DEA4BCBD-7A4B-ED77-44FF-5DF091333760}"/>
              </a:ext>
            </a:extLst>
          </p:cNvPr>
          <p:cNvSpPr/>
          <p:nvPr/>
        </p:nvSpPr>
        <p:spPr>
          <a:xfrm>
            <a:off x="1245413" y="5806440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5">
            <a:extLst>
              <a:ext uri="{FF2B5EF4-FFF2-40B4-BE49-F238E27FC236}">
                <a16:creationId xmlns:a16="http://schemas.microsoft.com/office/drawing/2014/main" id="{CDC96628-FBDF-7BA7-252A-64FD4CD8A4C6}"/>
              </a:ext>
            </a:extLst>
          </p:cNvPr>
          <p:cNvSpPr/>
          <p:nvPr/>
        </p:nvSpPr>
        <p:spPr>
          <a:xfrm>
            <a:off x="1525219" y="5806440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6">
            <a:extLst>
              <a:ext uri="{FF2B5EF4-FFF2-40B4-BE49-F238E27FC236}">
                <a16:creationId xmlns:a16="http://schemas.microsoft.com/office/drawing/2014/main" id="{EBBEA138-AB51-4A13-3D1B-96E0D6BFC876}"/>
              </a:ext>
            </a:extLst>
          </p:cNvPr>
          <p:cNvSpPr/>
          <p:nvPr/>
        </p:nvSpPr>
        <p:spPr>
          <a:xfrm>
            <a:off x="1805026" y="5806440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4186F8FB-4593-5C1C-0AF2-7A9C4DF2A389}"/>
              </a:ext>
            </a:extLst>
          </p:cNvPr>
          <p:cNvSpPr/>
          <p:nvPr/>
        </p:nvSpPr>
        <p:spPr>
          <a:xfrm>
            <a:off x="825703" y="6072256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8">
            <a:extLst>
              <a:ext uri="{FF2B5EF4-FFF2-40B4-BE49-F238E27FC236}">
                <a16:creationId xmlns:a16="http://schemas.microsoft.com/office/drawing/2014/main" id="{829F71E6-80C2-217E-8C69-945F254B33AE}"/>
              </a:ext>
            </a:extLst>
          </p:cNvPr>
          <p:cNvSpPr/>
          <p:nvPr/>
        </p:nvSpPr>
        <p:spPr>
          <a:xfrm>
            <a:off x="1105510" y="6072256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9">
            <a:extLst>
              <a:ext uri="{FF2B5EF4-FFF2-40B4-BE49-F238E27FC236}">
                <a16:creationId xmlns:a16="http://schemas.microsoft.com/office/drawing/2014/main" id="{E82AE8CB-0272-1FE1-8C85-7C0083EF1414}"/>
              </a:ext>
            </a:extLst>
          </p:cNvPr>
          <p:cNvSpPr/>
          <p:nvPr/>
        </p:nvSpPr>
        <p:spPr>
          <a:xfrm>
            <a:off x="1385316" y="6072256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10">
            <a:extLst>
              <a:ext uri="{FF2B5EF4-FFF2-40B4-BE49-F238E27FC236}">
                <a16:creationId xmlns:a16="http://schemas.microsoft.com/office/drawing/2014/main" id="{A370984D-824B-B0FA-FFD6-C6DC01AA9EEF}"/>
              </a:ext>
            </a:extLst>
          </p:cNvPr>
          <p:cNvSpPr/>
          <p:nvPr/>
        </p:nvSpPr>
        <p:spPr>
          <a:xfrm>
            <a:off x="1665122" y="6072256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11">
            <a:extLst>
              <a:ext uri="{FF2B5EF4-FFF2-40B4-BE49-F238E27FC236}">
                <a16:creationId xmlns:a16="http://schemas.microsoft.com/office/drawing/2014/main" id="{B1584C5C-FBCE-036E-7E7C-2E7C01FD6540}"/>
              </a:ext>
            </a:extLst>
          </p:cNvPr>
          <p:cNvSpPr/>
          <p:nvPr/>
        </p:nvSpPr>
        <p:spPr>
          <a:xfrm>
            <a:off x="9052560" y="640080"/>
            <a:ext cx="279806" cy="279806"/>
          </a:xfrm>
          <a:prstGeom prst="line">
            <a:avLst/>
          </a:prstGeom>
          <a:noFill/>
          <a:ln w="45263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12">
            <a:extLst>
              <a:ext uri="{FF2B5EF4-FFF2-40B4-BE49-F238E27FC236}">
                <a16:creationId xmlns:a16="http://schemas.microsoft.com/office/drawing/2014/main" id="{7633B940-A018-3207-7BED-1FFD8B2F2BA2}"/>
              </a:ext>
            </a:extLst>
          </p:cNvPr>
          <p:cNvSpPr/>
          <p:nvPr/>
        </p:nvSpPr>
        <p:spPr>
          <a:xfrm flipV="1">
            <a:off x="9052560" y="640080"/>
            <a:ext cx="279806" cy="279806"/>
          </a:xfrm>
          <a:prstGeom prst="line">
            <a:avLst/>
          </a:prstGeom>
          <a:noFill/>
          <a:ln w="45263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13">
            <a:extLst>
              <a:ext uri="{FF2B5EF4-FFF2-40B4-BE49-F238E27FC236}">
                <a16:creationId xmlns:a16="http://schemas.microsoft.com/office/drawing/2014/main" id="{D55B4D31-03D1-DE12-134E-1D34086E0CE4}"/>
              </a:ext>
            </a:extLst>
          </p:cNvPr>
          <p:cNvSpPr/>
          <p:nvPr/>
        </p:nvSpPr>
        <p:spPr>
          <a:xfrm>
            <a:off x="9562795" y="640080"/>
            <a:ext cx="279806" cy="279806"/>
          </a:xfrm>
          <a:prstGeom prst="line">
            <a:avLst/>
          </a:prstGeom>
          <a:noFill/>
          <a:ln w="45263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14">
            <a:extLst>
              <a:ext uri="{FF2B5EF4-FFF2-40B4-BE49-F238E27FC236}">
                <a16:creationId xmlns:a16="http://schemas.microsoft.com/office/drawing/2014/main" id="{7E4DFC6E-5C3C-8622-DF84-42CB9A1C289F}"/>
              </a:ext>
            </a:extLst>
          </p:cNvPr>
          <p:cNvSpPr/>
          <p:nvPr/>
        </p:nvSpPr>
        <p:spPr>
          <a:xfrm flipV="1">
            <a:off x="9562795" y="640080"/>
            <a:ext cx="279806" cy="279806"/>
          </a:xfrm>
          <a:prstGeom prst="line">
            <a:avLst/>
          </a:prstGeom>
          <a:noFill/>
          <a:ln w="45263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15">
            <a:extLst>
              <a:ext uri="{FF2B5EF4-FFF2-40B4-BE49-F238E27FC236}">
                <a16:creationId xmlns:a16="http://schemas.microsoft.com/office/drawing/2014/main" id="{91FA245F-0EA0-1414-C573-FFDEF9F8638D}"/>
              </a:ext>
            </a:extLst>
          </p:cNvPr>
          <p:cNvSpPr/>
          <p:nvPr/>
        </p:nvSpPr>
        <p:spPr>
          <a:xfrm>
            <a:off x="10073030" y="640080"/>
            <a:ext cx="279806" cy="279806"/>
          </a:xfrm>
          <a:prstGeom prst="line">
            <a:avLst/>
          </a:prstGeom>
          <a:noFill/>
          <a:ln w="45263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16">
            <a:extLst>
              <a:ext uri="{FF2B5EF4-FFF2-40B4-BE49-F238E27FC236}">
                <a16:creationId xmlns:a16="http://schemas.microsoft.com/office/drawing/2014/main" id="{27B1E26F-34CB-F5DD-2486-1831807CD431}"/>
              </a:ext>
            </a:extLst>
          </p:cNvPr>
          <p:cNvSpPr/>
          <p:nvPr/>
        </p:nvSpPr>
        <p:spPr>
          <a:xfrm flipV="1">
            <a:off x="10073030" y="640080"/>
            <a:ext cx="279806" cy="279806"/>
          </a:xfrm>
          <a:prstGeom prst="line">
            <a:avLst/>
          </a:prstGeom>
          <a:noFill/>
          <a:ln w="45263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17">
            <a:extLst>
              <a:ext uri="{FF2B5EF4-FFF2-40B4-BE49-F238E27FC236}">
                <a16:creationId xmlns:a16="http://schemas.microsoft.com/office/drawing/2014/main" id="{0BA39759-CE18-A102-AEA1-521DCB2E88CF}"/>
              </a:ext>
            </a:extLst>
          </p:cNvPr>
          <p:cNvSpPr/>
          <p:nvPr/>
        </p:nvSpPr>
        <p:spPr>
          <a:xfrm>
            <a:off x="10583266" y="640080"/>
            <a:ext cx="279806" cy="279806"/>
          </a:xfrm>
          <a:prstGeom prst="line">
            <a:avLst/>
          </a:prstGeom>
          <a:noFill/>
          <a:ln w="45263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18">
            <a:extLst>
              <a:ext uri="{FF2B5EF4-FFF2-40B4-BE49-F238E27FC236}">
                <a16:creationId xmlns:a16="http://schemas.microsoft.com/office/drawing/2014/main" id="{195EECDF-8F30-D16E-241E-BEB1DD4EC7D2}"/>
              </a:ext>
            </a:extLst>
          </p:cNvPr>
          <p:cNvSpPr/>
          <p:nvPr/>
        </p:nvSpPr>
        <p:spPr>
          <a:xfrm flipV="1">
            <a:off x="10583266" y="640080"/>
            <a:ext cx="279806" cy="279806"/>
          </a:xfrm>
          <a:prstGeom prst="line">
            <a:avLst/>
          </a:prstGeom>
          <a:noFill/>
          <a:ln w="45263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19">
            <a:extLst>
              <a:ext uri="{FF2B5EF4-FFF2-40B4-BE49-F238E27FC236}">
                <a16:creationId xmlns:a16="http://schemas.microsoft.com/office/drawing/2014/main" id="{3F2BB5B8-726F-085D-482B-01AB360A9D5F}"/>
              </a:ext>
            </a:extLst>
          </p:cNvPr>
          <p:cNvSpPr/>
          <p:nvPr/>
        </p:nvSpPr>
        <p:spPr>
          <a:xfrm>
            <a:off x="0" y="2148840"/>
            <a:ext cx="121916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0" b="1" i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9000" dirty="0"/>
          </a:p>
        </p:txBody>
      </p:sp>
      <p:sp>
        <p:nvSpPr>
          <p:cNvPr id="64" name="Text 20">
            <a:extLst>
              <a:ext uri="{FF2B5EF4-FFF2-40B4-BE49-F238E27FC236}">
                <a16:creationId xmlns:a16="http://schemas.microsoft.com/office/drawing/2014/main" id="{E8614A7B-1775-3C08-956C-B98333607DE1}"/>
              </a:ext>
            </a:extLst>
          </p:cNvPr>
          <p:cNvSpPr/>
          <p:nvPr/>
        </p:nvSpPr>
        <p:spPr>
          <a:xfrm>
            <a:off x="0" y="379476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— the commands everyone uses</a:t>
            </a:r>
            <a:endParaRPr lang="en-US" sz="1800" dirty="0"/>
          </a:p>
        </p:txBody>
      </p:sp>
      <p:sp>
        <p:nvSpPr>
          <p:cNvPr id="66" name="Text 21">
            <a:extLst>
              <a:ext uri="{FF2B5EF4-FFF2-40B4-BE49-F238E27FC236}">
                <a16:creationId xmlns:a16="http://schemas.microsoft.com/office/drawing/2014/main" id="{B4F8C4AF-5AB7-4587-71BB-A56F8F7E6ACA}"/>
              </a:ext>
            </a:extLst>
          </p:cNvPr>
          <p:cNvSpPr/>
          <p:nvPr/>
        </p:nvSpPr>
        <p:spPr>
          <a:xfrm>
            <a:off x="0" y="425196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/dayoff   ·   /dayoff-cancel   ·   /advance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/dayoff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58368" y="12070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A LEAVE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686800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51062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215323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479585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743846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818931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083192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347454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611716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698480" y="-1051560"/>
            <a:ext cx="2194560" cy="2194560"/>
          </a:xfrm>
          <a:prstGeom prst="blockArc">
            <a:avLst>
              <a:gd name="adj1" fmla="val 12300000"/>
              <a:gd name="adj2" fmla="val 7500000"/>
              <a:gd name="adj3" fmla="val 31000"/>
            </a:avLst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181255" y="58032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modal, everything on it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85216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0B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ONE FORM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852160" y="2377440"/>
            <a:ext cx="5669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05000"/>
              </a:lnSpc>
              <a:spcAft>
                <a:spcPts val="1584"/>
              </a:spcAft>
              <a:buSzPct val="100000"/>
              <a:buChar char="▪"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leave type — each has its own quota</a:t>
            </a:r>
            <a:endParaRPr lang="en-US" sz="1700" dirty="0"/>
          </a:p>
          <a:p>
            <a:pPr marL="228600" indent="-228600" algn="l">
              <a:lnSpc>
                <a:spcPct val="105000"/>
              </a:lnSpc>
              <a:spcAft>
                <a:spcPts val="1584"/>
              </a:spcAft>
              <a:buSzPct val="100000"/>
              <a:buChar char="▪"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start date (and end date for multi-day)</a:t>
            </a:r>
            <a:endParaRPr lang="en-US" sz="1700" dirty="0"/>
          </a:p>
          <a:p>
            <a:pPr marL="228600" indent="-228600" algn="l">
              <a:lnSpc>
                <a:spcPct val="105000"/>
              </a:lnSpc>
              <a:spcAft>
                <a:spcPts val="1584"/>
              </a:spcAft>
              <a:buSzPct val="100000"/>
              <a:buChar char="▪"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Optionally take just a morning or afternoon</a:t>
            </a:r>
            <a:endParaRPr lang="en-US" sz="1700" dirty="0"/>
          </a:p>
          <a:p>
            <a:pPr marL="228600" indent="-228600" algn="l">
              <a:lnSpc>
                <a:spcPct val="105000"/>
              </a:lnSpc>
              <a:buSzPct val="100000"/>
              <a:buChar char="▪"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reason if you'd like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10225735" y="6062472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0225735" y="606247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TTMI</a:t>
            </a:r>
            <a:endParaRPr lang="en-US" sz="11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B965A69-61C2-45D7-1797-776E2678FC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913" t="5979" r="32306" b="11600"/>
          <a:stretch>
            <a:fillRect/>
          </a:stretch>
        </p:blipFill>
        <p:spPr>
          <a:xfrm>
            <a:off x="1294975" y="1707083"/>
            <a:ext cx="3262210" cy="403315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/dayoff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58368" y="12070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686800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51062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215323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479585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743846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818931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083192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347454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611716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698480" y="-1051560"/>
            <a:ext cx="2194560" cy="2194560"/>
          </a:xfrm>
          <a:prstGeom prst="blockArc">
            <a:avLst>
              <a:gd name="adj1" fmla="val 12300000"/>
              <a:gd name="adj2" fmla="val 7500000"/>
              <a:gd name="adj3" fmla="val 31000"/>
            </a:avLst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0080" y="178308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96112" y="2039112"/>
            <a:ext cx="146304" cy="146304"/>
          </a:xfrm>
          <a:prstGeom prst="ellipse">
            <a:avLst/>
          </a:prstGeom>
          <a:solidFill>
            <a:srgbClr val="00B3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43000" y="194767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type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226771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Sick · Vacation · Personal — each tracks its own balance</a:t>
            </a:r>
            <a:endParaRPr lang="en-US" sz="1250" dirty="0"/>
          </a:p>
        </p:txBody>
      </p:sp>
      <p:pic>
        <p:nvPicPr>
          <p:cNvPr id="18" name="Image 0" descr="assets/image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714" y="2747778"/>
            <a:ext cx="2957617" cy="800094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6400800" y="178308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656832" y="2039112"/>
            <a:ext cx="146304" cy="146304"/>
          </a:xfrm>
          <a:prstGeom prst="ellipse">
            <a:avLst/>
          </a:prstGeom>
          <a:solidFill>
            <a:srgbClr val="00B3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903720" y="194767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903720" y="226771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date for a single day;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an end date for longer</a:t>
            </a:r>
            <a:endParaRPr lang="en-US" sz="1250" dirty="0"/>
          </a:p>
        </p:txBody>
      </p:sp>
      <p:pic>
        <p:nvPicPr>
          <p:cNvPr id="23" name="Image 1" descr="assets/image31.png"/>
          <p:cNvPicPr>
            <a:picLocks noChangeAspect="1"/>
          </p:cNvPicPr>
          <p:nvPr/>
        </p:nvPicPr>
        <p:blipFill>
          <a:blip r:embed="rId4"/>
          <a:srcRect b="10201"/>
          <a:stretch>
            <a:fillRect/>
          </a:stretch>
        </p:blipFill>
        <p:spPr>
          <a:xfrm>
            <a:off x="9293047" y="1847943"/>
            <a:ext cx="1942407" cy="1882809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640080" y="397764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896112" y="4233672"/>
            <a:ext cx="146304" cy="146304"/>
          </a:xfrm>
          <a:prstGeom prst="ellipse">
            <a:avLst/>
          </a:prstGeom>
          <a:solidFill>
            <a:srgbClr val="00B3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1143000" y="414223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day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1143000" y="446227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just a morning or an afternoon</a:t>
            </a:r>
            <a:endParaRPr lang="en-US" sz="1250" dirty="0"/>
          </a:p>
        </p:txBody>
      </p:sp>
      <p:pic>
        <p:nvPicPr>
          <p:cNvPr id="28" name="Image 2" descr="assets/image3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4678" y="4873752"/>
            <a:ext cx="3228019" cy="868680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6400800" y="397764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6656832" y="4233672"/>
            <a:ext cx="146304" cy="146304"/>
          </a:xfrm>
          <a:prstGeom prst="ellipse">
            <a:avLst/>
          </a:prstGeom>
          <a:solidFill>
            <a:srgbClr val="00B3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6903720" y="414223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</a:t>
            </a:r>
            <a:endParaRPr lang="en-US" sz="1600" dirty="0"/>
          </a:p>
        </p:txBody>
      </p:sp>
      <p:sp>
        <p:nvSpPr>
          <p:cNvPr id="32" name="Text 27"/>
          <p:cNvSpPr/>
          <p:nvPr/>
        </p:nvSpPr>
        <p:spPr>
          <a:xfrm>
            <a:off x="6903720" y="446227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note to your approver</a:t>
            </a:r>
            <a:endParaRPr lang="en-US" sz="1250" dirty="0"/>
          </a:p>
        </p:txBody>
      </p:sp>
      <p:pic>
        <p:nvPicPr>
          <p:cNvPr id="33" name="Image 3" descr="assets/image3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0843" y="4873752"/>
            <a:ext cx="3651624" cy="868680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10225735" y="6062472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/>
          <p:nvPr/>
        </p:nvSpPr>
        <p:spPr>
          <a:xfrm>
            <a:off x="10225735" y="606247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TTMI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/dayoff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58368" y="12070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→ APPROVE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686800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51062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215323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479585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743846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818931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083192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347454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611716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698480" y="-1051560"/>
            <a:ext cx="2194560" cy="2194560"/>
          </a:xfrm>
          <a:prstGeom prst="blockArc">
            <a:avLst>
              <a:gd name="adj1" fmla="val 12300000"/>
              <a:gd name="adj2" fmla="val 7500000"/>
              <a:gd name="adj3" fmla="val 31000"/>
            </a:avLst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2648" y="1755648"/>
            <a:ext cx="3163824" cy="3884252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76200" dist="381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0" descr="assets/image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3108960" cy="3829388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4069080" y="3429000"/>
            <a:ext cx="1005840" cy="0"/>
          </a:xfrm>
          <a:prstGeom prst="line">
            <a:avLst/>
          </a:prstGeom>
          <a:noFill/>
          <a:ln w="38100">
            <a:solidFill>
              <a:srgbClr val="11111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858955" y="3069771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596128" y="2121408"/>
            <a:ext cx="5907024" cy="2948965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76200" dist="381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1" descr="assets/image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2148840"/>
            <a:ext cx="5852160" cy="2894101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623560" y="5271541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manager gets a one-click card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5623560" y="5774461"/>
            <a:ext cx="5852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05000"/>
              </a:lnSpc>
              <a:spcAft>
                <a:spcPts val="1008"/>
              </a:spcAft>
              <a:buSzPct val="100000"/>
              <a:buChar char="▪"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Sees who, what type, dates, balance &amp; reason</a:t>
            </a:r>
            <a:endParaRPr lang="en-US" sz="1450" dirty="0"/>
          </a:p>
          <a:p>
            <a:pPr marL="228600" indent="-228600" algn="l">
              <a:lnSpc>
                <a:spcPct val="105000"/>
              </a:lnSpc>
              <a:buSzPct val="100000"/>
              <a:buChar char="▪"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or Decline — no spreadsheet, no typing</a:t>
            </a:r>
            <a:endParaRPr lang="en-US" sz="1450" dirty="0"/>
          </a:p>
        </p:txBody>
      </p:sp>
      <p:sp>
        <p:nvSpPr>
          <p:cNvPr id="22" name="Shape 18"/>
          <p:cNvSpPr/>
          <p:nvPr/>
        </p:nvSpPr>
        <p:spPr>
          <a:xfrm>
            <a:off x="10225735" y="6062472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10225735" y="606247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TTMI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/dayoff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58368" y="12070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PATHS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686800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51062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215323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479585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743846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818931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083192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347454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611716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698480" y="-1051560"/>
            <a:ext cx="2194560" cy="2194560"/>
          </a:xfrm>
          <a:prstGeom prst="blockArc">
            <a:avLst>
              <a:gd name="adj1" fmla="val 12300000"/>
              <a:gd name="adj2" fmla="val 7500000"/>
              <a:gd name="adj3" fmla="val 31000"/>
            </a:avLst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0080" y="2148840"/>
            <a:ext cx="525780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60120" y="246888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60120" y="2468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306324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Auto-approve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60120" y="3520440"/>
            <a:ext cx="4617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people at the top of the chain — the leave clears the moment they submit.</a:t>
            </a:r>
            <a:endParaRPr lang="en-US" sz="1450" dirty="0"/>
          </a:p>
        </p:txBody>
      </p:sp>
      <p:pic>
        <p:nvPicPr>
          <p:cNvPr id="19" name="Image 0" descr="assets/image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403929"/>
            <a:ext cx="4434840" cy="488111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6263640" y="2148840"/>
            <a:ext cx="525780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583680" y="246888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00B3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583680" y="2468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583680" y="306324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needed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6583680" y="3520440"/>
            <a:ext cx="4617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Routed to a manager as an approve / decline ticket.</a:t>
            </a:r>
            <a:endParaRPr lang="en-US" sz="1450" dirty="0"/>
          </a:p>
        </p:txBody>
      </p:sp>
      <p:pic>
        <p:nvPicPr>
          <p:cNvPr id="25" name="Image 1" descr="assets/image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343400"/>
            <a:ext cx="2218809" cy="1097280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10225735" y="6062472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10225735" y="606247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TTMI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/dayoff-cancel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58368" y="12070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UNDO A LEAVE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686800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51062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215323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479585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743846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818931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083192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347454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611716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698480" y="-1051560"/>
            <a:ext cx="2194560" cy="2194560"/>
          </a:xfrm>
          <a:prstGeom prst="blockArc">
            <a:avLst>
              <a:gd name="adj1" fmla="val 12300000"/>
              <a:gd name="adj2" fmla="val 7500000"/>
              <a:gd name="adj3" fmla="val 31000"/>
            </a:avLst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2648" y="2350008"/>
            <a:ext cx="5168495" cy="2340864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76200" dist="381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0" descr="assets/image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77440"/>
            <a:ext cx="5113631" cy="22860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40080" y="4846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request you want to drop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309360" y="2331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0B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309360" y="2743200"/>
            <a:ext cx="5212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05000"/>
              </a:lnSpc>
              <a:spcAft>
                <a:spcPts val="1728"/>
              </a:spcAft>
              <a:buSzPct val="100000"/>
              <a:buChar char="▪"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 any pending or future request</a:t>
            </a:r>
            <a:endParaRPr lang="en-US" sz="1700" dirty="0"/>
          </a:p>
          <a:p>
            <a:pPr marL="228600" indent="-228600" algn="l">
              <a:lnSpc>
                <a:spcPct val="105000"/>
              </a:lnSpc>
              <a:spcAft>
                <a:spcPts val="1728"/>
              </a:spcAft>
              <a:buSzPct val="100000"/>
              <a:buChar char="▪"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the reserved quota back instantly</a:t>
            </a:r>
            <a:endParaRPr lang="en-US" sz="1700" dirty="0"/>
          </a:p>
          <a:p>
            <a:pPr marL="228600" indent="-228600" algn="l">
              <a:lnSpc>
                <a:spcPct val="105000"/>
              </a:lnSpc>
              <a:buSzPct val="100000"/>
              <a:buChar char="▪"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Early-return a leave already in progress — you're only charged for the days you took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10225735" y="6062472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0225735" y="606247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TTMI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/advance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58368" y="12070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OPTIMIZER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686800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51062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215323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479585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743846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818931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083192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347454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611716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698480" y="-1051560"/>
            <a:ext cx="2194560" cy="2194560"/>
          </a:xfrm>
          <a:prstGeom prst="blockArc">
            <a:avLst>
              <a:gd name="adj1" fmla="val 12300000"/>
              <a:gd name="adj2" fmla="val 7500000"/>
              <a:gd name="adj3" fmla="val 31000"/>
            </a:avLst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2648" y="2121408"/>
            <a:ext cx="4740809" cy="3346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76200" dist="381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0" descr="assets/image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48840"/>
            <a:ext cx="4685945" cy="32918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400800" y="2331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0B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SMARTER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382512" y="265176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 your days off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6400800" y="3520440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05000"/>
              </a:lnSpc>
              <a:spcAft>
                <a:spcPts val="1584"/>
              </a:spcAft>
              <a:buSzPct val="100000"/>
              <a:buChar char="▪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the longest break your remaining days can buy</a:t>
            </a:r>
            <a:endParaRPr lang="en-US" sz="1600" dirty="0"/>
          </a:p>
          <a:p>
            <a:pPr marL="228600" indent="-228600" algn="l">
              <a:lnSpc>
                <a:spcPct val="105000"/>
              </a:lnSpc>
              <a:spcAft>
                <a:spcPts val="1584"/>
              </a:spcAft>
              <a:buSzPct val="100000"/>
              <a:buChar char="▪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weekends and public holidays as free bridges</a:t>
            </a:r>
            <a:endParaRPr lang="en-US" sz="1600" dirty="0"/>
          </a:p>
          <a:p>
            <a:pPr marL="228600" indent="-228600" algn="l">
              <a:lnSpc>
                <a:spcPct val="105000"/>
              </a:lnSpc>
              <a:buSzPct val="100000"/>
              <a:buChar char="▪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the winning window straight from the card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10225735" y="6062472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0225735" y="606247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TTMI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/advance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58368" y="12070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BREAK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686800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51062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215323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479585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743846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818931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083192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347454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611716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698480" y="-1051560"/>
            <a:ext cx="2194560" cy="2194560"/>
          </a:xfrm>
          <a:prstGeom prst="blockArc">
            <a:avLst>
              <a:gd name="adj1" fmla="val 12300000"/>
              <a:gd name="adj2" fmla="val 7500000"/>
              <a:gd name="adj3" fmla="val 31000"/>
            </a:avLst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81928" y="2304288"/>
            <a:ext cx="5266944" cy="297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76200" dist="381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0" descr="assets/image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331720"/>
            <a:ext cx="5212080" cy="292105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40080" y="2331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0B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TIME OFF TOGETHER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21792" y="26517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window for the whole team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640080" y="3657600"/>
            <a:ext cx="5212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05000"/>
              </a:lnSpc>
              <a:spcAft>
                <a:spcPts val="1584"/>
              </a:spcAft>
              <a:buSzPct val="100000"/>
              <a:buChar char="▪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your teammates — you're included automatically</a:t>
            </a:r>
            <a:endParaRPr lang="en-US" sz="1600" dirty="0"/>
          </a:p>
          <a:p>
            <a:pPr marL="228600" indent="-228600" algn="l">
              <a:lnSpc>
                <a:spcPct val="105000"/>
              </a:lnSpc>
              <a:spcAft>
                <a:spcPts val="1584"/>
              </a:spcAft>
              <a:buSzPct val="100000"/>
              <a:buChar char="▪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optimizer finds a window everyone can take off</a:t>
            </a:r>
            <a:endParaRPr lang="en-US" sz="1600" dirty="0"/>
          </a:p>
          <a:p>
            <a:pPr marL="228600" indent="-228600" algn="l">
              <a:lnSpc>
                <a:spcPct val="105000"/>
              </a:lnSpc>
              <a:buSzPct val="100000"/>
              <a:buChar char="▪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for team offsites or a shared long weekend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10225735" y="6062472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0225735" y="606247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TTMI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0">
            <a:extLst>
              <a:ext uri="{FF2B5EF4-FFF2-40B4-BE49-F238E27FC236}">
                <a16:creationId xmlns:a16="http://schemas.microsoft.com/office/drawing/2014/main" id="{CFE90D81-F25E-18AD-30B8-3AC3AD3B427C}"/>
              </a:ext>
            </a:extLst>
          </p:cNvPr>
          <p:cNvSpPr/>
          <p:nvPr/>
        </p:nvSpPr>
        <p:spPr>
          <a:xfrm>
            <a:off x="-1188720" y="4937760"/>
            <a:ext cx="2926080" cy="2926080"/>
          </a:xfrm>
          <a:prstGeom prst="blockArc">
            <a:avLst>
              <a:gd name="adj1" fmla="val 12300000"/>
              <a:gd name="adj2" fmla="val 7500000"/>
              <a:gd name="adj3" fmla="val 31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1">
            <a:extLst>
              <a:ext uri="{FF2B5EF4-FFF2-40B4-BE49-F238E27FC236}">
                <a16:creationId xmlns:a16="http://schemas.microsoft.com/office/drawing/2014/main" id="{FEABD8D8-105E-FD6D-7E6B-B78FCE46512C}"/>
              </a:ext>
            </a:extLst>
          </p:cNvPr>
          <p:cNvSpPr/>
          <p:nvPr/>
        </p:nvSpPr>
        <p:spPr>
          <a:xfrm rot="8494849">
            <a:off x="10515600" y="-1280160"/>
            <a:ext cx="2743200" cy="2743200"/>
          </a:xfrm>
          <a:prstGeom prst="blockArc">
            <a:avLst>
              <a:gd name="adj1" fmla="val 12300000"/>
              <a:gd name="adj2" fmla="val 7500000"/>
              <a:gd name="adj3" fmla="val 31000"/>
            </a:avLst>
          </a:prstGeom>
          <a:solidFill>
            <a:srgbClr val="00B3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2">
            <a:extLst>
              <a:ext uri="{FF2B5EF4-FFF2-40B4-BE49-F238E27FC236}">
                <a16:creationId xmlns:a16="http://schemas.microsoft.com/office/drawing/2014/main" id="{6A59EC47-3537-AB04-42C5-71C6A78C3398}"/>
              </a:ext>
            </a:extLst>
          </p:cNvPr>
          <p:cNvSpPr/>
          <p:nvPr/>
        </p:nvSpPr>
        <p:spPr>
          <a:xfrm>
            <a:off x="685800" y="640080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3">
            <a:extLst>
              <a:ext uri="{FF2B5EF4-FFF2-40B4-BE49-F238E27FC236}">
                <a16:creationId xmlns:a16="http://schemas.microsoft.com/office/drawing/2014/main" id="{467C6F3B-F3A4-4CBC-E20F-FB218CDABA01}"/>
              </a:ext>
            </a:extLst>
          </p:cNvPr>
          <p:cNvSpPr/>
          <p:nvPr/>
        </p:nvSpPr>
        <p:spPr>
          <a:xfrm>
            <a:off x="965606" y="640080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4">
            <a:extLst>
              <a:ext uri="{FF2B5EF4-FFF2-40B4-BE49-F238E27FC236}">
                <a16:creationId xmlns:a16="http://schemas.microsoft.com/office/drawing/2014/main" id="{FC026EDC-FC1B-1E94-2C57-0B001C67F3E0}"/>
              </a:ext>
            </a:extLst>
          </p:cNvPr>
          <p:cNvSpPr/>
          <p:nvPr/>
        </p:nvSpPr>
        <p:spPr>
          <a:xfrm>
            <a:off x="1245413" y="640080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Shape 5">
            <a:extLst>
              <a:ext uri="{FF2B5EF4-FFF2-40B4-BE49-F238E27FC236}">
                <a16:creationId xmlns:a16="http://schemas.microsoft.com/office/drawing/2014/main" id="{29FE741D-2520-672C-042D-97D96B7D2D0B}"/>
              </a:ext>
            </a:extLst>
          </p:cNvPr>
          <p:cNvSpPr/>
          <p:nvPr/>
        </p:nvSpPr>
        <p:spPr>
          <a:xfrm>
            <a:off x="1525219" y="640080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Shape 6">
            <a:extLst>
              <a:ext uri="{FF2B5EF4-FFF2-40B4-BE49-F238E27FC236}">
                <a16:creationId xmlns:a16="http://schemas.microsoft.com/office/drawing/2014/main" id="{9A368C76-3FB8-C7DB-A29C-89093029B46D}"/>
              </a:ext>
            </a:extLst>
          </p:cNvPr>
          <p:cNvSpPr/>
          <p:nvPr/>
        </p:nvSpPr>
        <p:spPr>
          <a:xfrm>
            <a:off x="1805026" y="640080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Shape 7">
            <a:extLst>
              <a:ext uri="{FF2B5EF4-FFF2-40B4-BE49-F238E27FC236}">
                <a16:creationId xmlns:a16="http://schemas.microsoft.com/office/drawing/2014/main" id="{E1BDCB31-5888-B254-0D9C-D6743A1940AC}"/>
              </a:ext>
            </a:extLst>
          </p:cNvPr>
          <p:cNvSpPr/>
          <p:nvPr/>
        </p:nvSpPr>
        <p:spPr>
          <a:xfrm>
            <a:off x="825703" y="905896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Shape 8">
            <a:extLst>
              <a:ext uri="{FF2B5EF4-FFF2-40B4-BE49-F238E27FC236}">
                <a16:creationId xmlns:a16="http://schemas.microsoft.com/office/drawing/2014/main" id="{05D8305D-E1A0-F3B3-4247-C4CA673EAEAB}"/>
              </a:ext>
            </a:extLst>
          </p:cNvPr>
          <p:cNvSpPr/>
          <p:nvPr/>
        </p:nvSpPr>
        <p:spPr>
          <a:xfrm>
            <a:off x="1105510" y="905896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Shape 9">
            <a:extLst>
              <a:ext uri="{FF2B5EF4-FFF2-40B4-BE49-F238E27FC236}">
                <a16:creationId xmlns:a16="http://schemas.microsoft.com/office/drawing/2014/main" id="{A29B02EB-A0C2-06B9-BC4F-E9C683277B5B}"/>
              </a:ext>
            </a:extLst>
          </p:cNvPr>
          <p:cNvSpPr/>
          <p:nvPr/>
        </p:nvSpPr>
        <p:spPr>
          <a:xfrm>
            <a:off x="1385316" y="905896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Shape 10">
            <a:extLst>
              <a:ext uri="{FF2B5EF4-FFF2-40B4-BE49-F238E27FC236}">
                <a16:creationId xmlns:a16="http://schemas.microsoft.com/office/drawing/2014/main" id="{28489C9D-972D-557B-71CD-8B063AC06D00}"/>
              </a:ext>
            </a:extLst>
          </p:cNvPr>
          <p:cNvSpPr/>
          <p:nvPr/>
        </p:nvSpPr>
        <p:spPr>
          <a:xfrm>
            <a:off x="1665122" y="905896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Shape 11">
            <a:extLst>
              <a:ext uri="{FF2B5EF4-FFF2-40B4-BE49-F238E27FC236}">
                <a16:creationId xmlns:a16="http://schemas.microsoft.com/office/drawing/2014/main" id="{1E86DF32-80D6-80AF-A823-C84D46E98822}"/>
              </a:ext>
            </a:extLst>
          </p:cNvPr>
          <p:cNvSpPr/>
          <p:nvPr/>
        </p:nvSpPr>
        <p:spPr>
          <a:xfrm>
            <a:off x="9052560" y="5806440"/>
            <a:ext cx="279806" cy="279806"/>
          </a:xfrm>
          <a:prstGeom prst="line">
            <a:avLst/>
          </a:prstGeom>
          <a:noFill/>
          <a:ln w="45263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12">
            <a:extLst>
              <a:ext uri="{FF2B5EF4-FFF2-40B4-BE49-F238E27FC236}">
                <a16:creationId xmlns:a16="http://schemas.microsoft.com/office/drawing/2014/main" id="{FDE9CA51-4DE7-E623-E39B-0A8EC1C76BDA}"/>
              </a:ext>
            </a:extLst>
          </p:cNvPr>
          <p:cNvSpPr/>
          <p:nvPr/>
        </p:nvSpPr>
        <p:spPr>
          <a:xfrm flipV="1">
            <a:off x="9052560" y="5806440"/>
            <a:ext cx="279806" cy="279806"/>
          </a:xfrm>
          <a:prstGeom prst="line">
            <a:avLst/>
          </a:prstGeom>
          <a:noFill/>
          <a:ln w="45263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13">
            <a:extLst>
              <a:ext uri="{FF2B5EF4-FFF2-40B4-BE49-F238E27FC236}">
                <a16:creationId xmlns:a16="http://schemas.microsoft.com/office/drawing/2014/main" id="{065C2536-A018-2C08-106B-B2A16D85EBB4}"/>
              </a:ext>
            </a:extLst>
          </p:cNvPr>
          <p:cNvSpPr/>
          <p:nvPr/>
        </p:nvSpPr>
        <p:spPr>
          <a:xfrm>
            <a:off x="9562795" y="5806440"/>
            <a:ext cx="279806" cy="279806"/>
          </a:xfrm>
          <a:prstGeom prst="line">
            <a:avLst/>
          </a:prstGeom>
          <a:noFill/>
          <a:ln w="45263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14">
            <a:extLst>
              <a:ext uri="{FF2B5EF4-FFF2-40B4-BE49-F238E27FC236}">
                <a16:creationId xmlns:a16="http://schemas.microsoft.com/office/drawing/2014/main" id="{BC4FF33E-F20B-51F0-C912-4B5A7D76054B}"/>
              </a:ext>
            </a:extLst>
          </p:cNvPr>
          <p:cNvSpPr/>
          <p:nvPr/>
        </p:nvSpPr>
        <p:spPr>
          <a:xfrm flipV="1">
            <a:off x="9562795" y="5806440"/>
            <a:ext cx="279806" cy="279806"/>
          </a:xfrm>
          <a:prstGeom prst="line">
            <a:avLst/>
          </a:prstGeom>
          <a:noFill/>
          <a:ln w="45263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15">
            <a:extLst>
              <a:ext uri="{FF2B5EF4-FFF2-40B4-BE49-F238E27FC236}">
                <a16:creationId xmlns:a16="http://schemas.microsoft.com/office/drawing/2014/main" id="{B8ECBBAA-24F2-0530-1135-FA680DB54D84}"/>
              </a:ext>
            </a:extLst>
          </p:cNvPr>
          <p:cNvSpPr/>
          <p:nvPr/>
        </p:nvSpPr>
        <p:spPr>
          <a:xfrm>
            <a:off x="10073030" y="5806440"/>
            <a:ext cx="279806" cy="279806"/>
          </a:xfrm>
          <a:prstGeom prst="line">
            <a:avLst/>
          </a:prstGeom>
          <a:noFill/>
          <a:ln w="45263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16">
            <a:extLst>
              <a:ext uri="{FF2B5EF4-FFF2-40B4-BE49-F238E27FC236}">
                <a16:creationId xmlns:a16="http://schemas.microsoft.com/office/drawing/2014/main" id="{2C666433-C7A0-402A-560A-070717FC10C1}"/>
              </a:ext>
            </a:extLst>
          </p:cNvPr>
          <p:cNvSpPr/>
          <p:nvPr/>
        </p:nvSpPr>
        <p:spPr>
          <a:xfrm flipV="1">
            <a:off x="10073030" y="5806440"/>
            <a:ext cx="279806" cy="279806"/>
          </a:xfrm>
          <a:prstGeom prst="line">
            <a:avLst/>
          </a:prstGeom>
          <a:noFill/>
          <a:ln w="45263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7">
            <a:extLst>
              <a:ext uri="{FF2B5EF4-FFF2-40B4-BE49-F238E27FC236}">
                <a16:creationId xmlns:a16="http://schemas.microsoft.com/office/drawing/2014/main" id="{9EDDEEC2-0247-3E13-FBD5-3234974FFCF6}"/>
              </a:ext>
            </a:extLst>
          </p:cNvPr>
          <p:cNvSpPr/>
          <p:nvPr/>
        </p:nvSpPr>
        <p:spPr>
          <a:xfrm>
            <a:off x="10583266" y="5806440"/>
            <a:ext cx="279806" cy="279806"/>
          </a:xfrm>
          <a:prstGeom prst="line">
            <a:avLst/>
          </a:prstGeom>
          <a:noFill/>
          <a:ln w="45263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8">
            <a:extLst>
              <a:ext uri="{FF2B5EF4-FFF2-40B4-BE49-F238E27FC236}">
                <a16:creationId xmlns:a16="http://schemas.microsoft.com/office/drawing/2014/main" id="{C9D303F8-01F7-2AA5-BF7B-978D816CF990}"/>
              </a:ext>
            </a:extLst>
          </p:cNvPr>
          <p:cNvSpPr/>
          <p:nvPr/>
        </p:nvSpPr>
        <p:spPr>
          <a:xfrm flipV="1">
            <a:off x="10583266" y="5806440"/>
            <a:ext cx="279806" cy="279806"/>
          </a:xfrm>
          <a:prstGeom prst="line">
            <a:avLst/>
          </a:prstGeom>
          <a:noFill/>
          <a:ln w="45263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9">
            <a:extLst>
              <a:ext uri="{FF2B5EF4-FFF2-40B4-BE49-F238E27FC236}">
                <a16:creationId xmlns:a16="http://schemas.microsoft.com/office/drawing/2014/main" id="{0C8901E1-8227-0066-D830-EDF2F34853E9}"/>
              </a:ext>
            </a:extLst>
          </p:cNvPr>
          <p:cNvSpPr/>
          <p:nvPr/>
        </p:nvSpPr>
        <p:spPr>
          <a:xfrm>
            <a:off x="0" y="1965960"/>
            <a:ext cx="1219169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0" b="1" i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9000" dirty="0"/>
          </a:p>
        </p:txBody>
      </p:sp>
      <p:sp>
        <p:nvSpPr>
          <p:cNvPr id="109" name="Text 20">
            <a:extLst>
              <a:ext uri="{FF2B5EF4-FFF2-40B4-BE49-F238E27FC236}">
                <a16:creationId xmlns:a16="http://schemas.microsoft.com/office/drawing/2014/main" id="{94362225-F4ED-2C98-98AD-7E8B4379C4D4}"/>
              </a:ext>
            </a:extLst>
          </p:cNvPr>
          <p:cNvSpPr/>
          <p:nvPr/>
        </p:nvSpPr>
        <p:spPr>
          <a:xfrm>
            <a:off x="0" y="361188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— admin &amp; manager tools</a:t>
            </a:r>
            <a:endParaRPr lang="en-US" sz="1800" dirty="0"/>
          </a:p>
        </p:txBody>
      </p:sp>
      <p:sp>
        <p:nvSpPr>
          <p:cNvPr id="111" name="Text 21">
            <a:extLst>
              <a:ext uri="{FF2B5EF4-FFF2-40B4-BE49-F238E27FC236}">
                <a16:creationId xmlns:a16="http://schemas.microsoft.com/office/drawing/2014/main" id="{33DAF9FE-6F2B-5586-975F-FE341717DD08}"/>
              </a:ext>
            </a:extLst>
          </p:cNvPr>
          <p:cNvSpPr/>
          <p:nvPr/>
        </p:nvSpPr>
        <p:spPr>
          <a:xfrm>
            <a:off x="0" y="406908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/control   ·   /burnout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/control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58368" y="12070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MENU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686800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51062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215323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479585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743846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818931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083192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347454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611716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698480" y="-1051560"/>
            <a:ext cx="2194560" cy="2194560"/>
          </a:xfrm>
          <a:prstGeom prst="blockArc">
            <a:avLst>
              <a:gd name="adj1" fmla="val 12300000"/>
              <a:gd name="adj2" fmla="val 7500000"/>
              <a:gd name="adj3" fmla="val 31000"/>
            </a:avLst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2648" y="2121408"/>
            <a:ext cx="4762706" cy="3346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76200" dist="381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0" descr="assets/image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48840"/>
            <a:ext cx="4707842" cy="329184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400800" y="2359152"/>
            <a:ext cx="146304" cy="146304"/>
          </a:xfrm>
          <a:prstGeom prst="ellipse">
            <a:avLst/>
          </a:prstGeom>
          <a:solidFill>
            <a:srgbClr val="00B3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675120" y="2194560"/>
            <a:ext cx="4937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limits  </a:t>
            </a: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set global quota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400800" y="2907792"/>
            <a:ext cx="146304" cy="146304"/>
          </a:xfrm>
          <a:prstGeom prst="ellipse">
            <a:avLst/>
          </a:prstGeom>
          <a:solidFill>
            <a:srgbClr val="00B3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675120" y="2743200"/>
            <a:ext cx="4937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Carry-over  </a:t>
            </a: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roll days into next year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400800" y="3456432"/>
            <a:ext cx="146304" cy="146304"/>
          </a:xfrm>
          <a:prstGeom prst="ellipse">
            <a:avLst/>
          </a:prstGeom>
          <a:solidFill>
            <a:srgbClr val="00B3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675120" y="3291840"/>
            <a:ext cx="4937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Holidays  </a:t>
            </a: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add, remove or import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400800" y="4005072"/>
            <a:ext cx="146304" cy="146304"/>
          </a:xfrm>
          <a:prstGeom prst="ellipse">
            <a:avLst/>
          </a:prstGeom>
          <a:solidFill>
            <a:srgbClr val="00B3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675120" y="3840480"/>
            <a:ext cx="4937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 </a:t>
            </a: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usage &amp; burnout, as CSV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6400800" y="4553712"/>
            <a:ext cx="146304" cy="146304"/>
          </a:xfrm>
          <a:prstGeom prst="ellipse">
            <a:avLst/>
          </a:prstGeom>
          <a:solidFill>
            <a:srgbClr val="00B3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675120" y="4389120"/>
            <a:ext cx="4937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employees  </a:t>
            </a: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names, managers, overrides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6400800" y="5102352"/>
            <a:ext cx="146304" cy="146304"/>
          </a:xfrm>
          <a:prstGeom prst="ellipse">
            <a:avLst/>
          </a:prstGeom>
          <a:solidFill>
            <a:srgbClr val="00B3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675120" y="4937760"/>
            <a:ext cx="4937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settings  </a:t>
            </a: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current policy at a glance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6400800" y="5650992"/>
            <a:ext cx="146304" cy="146304"/>
          </a:xfrm>
          <a:prstGeom prst="ellipse">
            <a:avLst/>
          </a:prstGeom>
          <a:solidFill>
            <a:srgbClr val="00B3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675120" y="5486400"/>
            <a:ext cx="4937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 </a:t>
            </a: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reset the database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10225735" y="6062472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10225735" y="606247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TTMI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limits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686800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951062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215323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479585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743846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818931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083192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347454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611716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698480" y="-1051560"/>
            <a:ext cx="2194560" cy="2194560"/>
          </a:xfrm>
          <a:prstGeom prst="blockArc">
            <a:avLst>
              <a:gd name="adj1" fmla="val 12300000"/>
              <a:gd name="adj2" fmla="val 7500000"/>
              <a:gd name="adj3" fmla="val 31000"/>
            </a:avLst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1280160"/>
            <a:ext cx="3218688" cy="329184"/>
          </a:xfrm>
          <a:prstGeom prst="roundRect">
            <a:avLst>
              <a:gd name="adj" fmla="val 50000"/>
            </a:avLst>
          </a:prstGeom>
          <a:solidFill>
            <a:srgbClr val="E4E4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128016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/control</a:t>
            </a:r>
            <a:r>
              <a:rPr lang="en-US" sz="12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›  </a:t>
            </a: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limits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" y="1755648"/>
            <a:ext cx="4022925" cy="459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76200" dist="381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0" descr="assets/image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79"/>
            <a:ext cx="3959912" cy="4620917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577840" y="2148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0B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THE RULES ONCE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577840" y="2606040"/>
            <a:ext cx="5943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05000"/>
              </a:lnSpc>
              <a:spcAft>
                <a:spcPts val="1872"/>
              </a:spcAft>
              <a:buSzPct val="100000"/>
              <a:buChar char="▪"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quota for each type — sick, vacation, personal</a:t>
            </a:r>
            <a:endParaRPr lang="en-US" sz="1700" dirty="0"/>
          </a:p>
          <a:p>
            <a:pPr marL="228600" indent="-228600" algn="l">
              <a:lnSpc>
                <a:spcPct val="105000"/>
              </a:lnSpc>
              <a:spcAft>
                <a:spcPts val="1872"/>
              </a:spcAft>
              <a:buSzPct val="100000"/>
              <a:buChar char="▪"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consecutive-day cap on vacation</a:t>
            </a:r>
            <a:endParaRPr lang="en-US" sz="1700" dirty="0"/>
          </a:p>
          <a:p>
            <a:pPr marL="228600" indent="-228600" algn="l">
              <a:lnSpc>
                <a:spcPct val="105000"/>
              </a:lnSpc>
              <a:buSzPct val="100000"/>
              <a:buChar char="▪"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take effect immediately across the team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10225735" y="6062472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0225735" y="606247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TTMI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Carry-over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686800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951062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215323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479585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743846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818931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083192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347454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611716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698480" y="-1051560"/>
            <a:ext cx="2194560" cy="2194560"/>
          </a:xfrm>
          <a:prstGeom prst="blockArc">
            <a:avLst>
              <a:gd name="adj1" fmla="val 12300000"/>
              <a:gd name="adj2" fmla="val 7500000"/>
              <a:gd name="adj3" fmla="val 31000"/>
            </a:avLst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1280160"/>
            <a:ext cx="2962656" cy="329184"/>
          </a:xfrm>
          <a:prstGeom prst="roundRect">
            <a:avLst>
              <a:gd name="adj" fmla="val 50000"/>
            </a:avLst>
          </a:prstGeom>
          <a:solidFill>
            <a:srgbClr val="E4E4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128016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/control</a:t>
            </a:r>
            <a:r>
              <a:rPr lang="en-US" sz="12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›  </a:t>
            </a: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Carry-over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" y="1755648"/>
            <a:ext cx="4537850" cy="4579838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76200" dist="381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0" descr="assets/image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4475024" cy="460725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760720" y="2148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0B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UNUSED DAYS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760720" y="2606040"/>
            <a:ext cx="5760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05000"/>
              </a:lnSpc>
              <a:spcAft>
                <a:spcPts val="1872"/>
              </a:spcAft>
              <a:buSzPct val="100000"/>
              <a:buChar char="▪"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people keep unused quota for next year</a:t>
            </a:r>
            <a:endParaRPr lang="en-US" sz="1700" dirty="0"/>
          </a:p>
          <a:p>
            <a:pPr marL="228600" indent="-228600" algn="l">
              <a:lnSpc>
                <a:spcPct val="105000"/>
              </a:lnSpc>
              <a:spcAft>
                <a:spcPts val="1872"/>
              </a:spcAft>
              <a:buSzPct val="100000"/>
              <a:buChar char="▪"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how much carries over — and the max total balance</a:t>
            </a:r>
            <a:endParaRPr lang="en-US" sz="1700" dirty="0"/>
          </a:p>
          <a:p>
            <a:pPr marL="228600" indent="-228600" algn="l">
              <a:lnSpc>
                <a:spcPct val="105000"/>
              </a:lnSpc>
              <a:buSzPct val="100000"/>
              <a:buChar char="▪"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the leave-year reset date (month &amp; day)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10225735" y="6062472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0225735" y="606247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TTMI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Holidays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686800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951062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215323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479585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743846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818931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083192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347454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611716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698480" y="-1051560"/>
            <a:ext cx="2194560" cy="2194560"/>
          </a:xfrm>
          <a:prstGeom prst="blockArc">
            <a:avLst>
              <a:gd name="adj1" fmla="val 12300000"/>
              <a:gd name="adj2" fmla="val 7500000"/>
              <a:gd name="adj3" fmla="val 31000"/>
            </a:avLst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1280160"/>
            <a:ext cx="2706624" cy="329184"/>
          </a:xfrm>
          <a:prstGeom prst="roundRect">
            <a:avLst>
              <a:gd name="adj" fmla="val 50000"/>
            </a:avLst>
          </a:prstGeom>
          <a:solidFill>
            <a:srgbClr val="E4E4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128016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/control</a:t>
            </a:r>
            <a:r>
              <a:rPr lang="en-US" sz="12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›  </a:t>
            </a: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Holidays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1965960"/>
            <a:ext cx="3611880" cy="374904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14400" y="2240280"/>
            <a:ext cx="1280160" cy="411480"/>
          </a:xfrm>
          <a:prstGeom prst="roundRect">
            <a:avLst>
              <a:gd name="adj" fmla="val 48889"/>
            </a:avLst>
          </a:prstGeom>
          <a:solidFill>
            <a:srgbClr val="00B3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22402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27432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one holiday with a date &amp; label</a:t>
            </a:r>
            <a:endParaRPr lang="en-US" sz="1300" dirty="0"/>
          </a:p>
        </p:txBody>
      </p:sp>
      <p:pic>
        <p:nvPicPr>
          <p:cNvPr id="19" name="Image 0" descr="assets/image4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" y="3337560"/>
            <a:ext cx="3063240" cy="210312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4416552" y="1965960"/>
            <a:ext cx="3611880" cy="374904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690872" y="2240280"/>
            <a:ext cx="1280160" cy="411480"/>
          </a:xfrm>
          <a:prstGeom prst="roundRect">
            <a:avLst>
              <a:gd name="adj" fmla="val 48889"/>
            </a:avLst>
          </a:prstGeom>
          <a:solidFill>
            <a:srgbClr val="00B3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690872" y="22402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690872" y="27432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from the list to delete</a:t>
            </a:r>
            <a:endParaRPr lang="en-US" sz="1300" dirty="0"/>
          </a:p>
        </p:txBody>
      </p:sp>
      <p:pic>
        <p:nvPicPr>
          <p:cNvPr id="24" name="Image 1" descr="assets/image44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90872" y="3337560"/>
            <a:ext cx="3063240" cy="2103120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8193024" y="1965960"/>
            <a:ext cx="3611880" cy="374904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8467344" y="2240280"/>
            <a:ext cx="1280160" cy="411480"/>
          </a:xfrm>
          <a:prstGeom prst="roundRect">
            <a:avLst>
              <a:gd name="adj" fmla="val 48889"/>
            </a:avLst>
          </a:prstGeom>
          <a:solidFill>
            <a:srgbClr val="00B3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8467344" y="22402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8467344" y="27432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many at once, one per line</a:t>
            </a:r>
            <a:endParaRPr lang="en-US" sz="1300" dirty="0"/>
          </a:p>
        </p:txBody>
      </p:sp>
      <p:pic>
        <p:nvPicPr>
          <p:cNvPr id="29" name="Image 2" descr="assets/image45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467344" y="3337560"/>
            <a:ext cx="3063240" cy="2103120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10225735" y="6062472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10225735" y="606247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TTMI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686800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951062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215323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479585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743846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818931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083192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347454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611716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698480" y="-1051560"/>
            <a:ext cx="2194560" cy="2194560"/>
          </a:xfrm>
          <a:prstGeom prst="blockArc">
            <a:avLst>
              <a:gd name="adj1" fmla="val 12300000"/>
              <a:gd name="adj2" fmla="val 7500000"/>
              <a:gd name="adj3" fmla="val 31000"/>
            </a:avLst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1280160"/>
            <a:ext cx="2450592" cy="329184"/>
          </a:xfrm>
          <a:prstGeom prst="roundRect">
            <a:avLst>
              <a:gd name="adj" fmla="val 50000"/>
            </a:avLst>
          </a:prstGeom>
          <a:solidFill>
            <a:srgbClr val="E4E4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128016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/control</a:t>
            </a:r>
            <a:r>
              <a:rPr lang="en-US" sz="12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›  </a:t>
            </a: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0B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TO YOUR DM · AS CSV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" y="1892808"/>
            <a:ext cx="5449824" cy="1484263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76200" dist="381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0" descr="assets/image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20240"/>
            <a:ext cx="5394960" cy="1429399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40080" y="3441079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All-employee quota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12648" y="4315968"/>
            <a:ext cx="5449824" cy="738388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76200" dist="381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1" descr="assets/image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343400"/>
            <a:ext cx="5394960" cy="68352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40080" y="511836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person's history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309360" y="2148840"/>
            <a:ext cx="5212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05000"/>
              </a:lnSpc>
              <a:spcAft>
                <a:spcPts val="1872"/>
              </a:spcAft>
              <a:buSzPct val="100000"/>
              <a:buChar char="▪"/>
            </a:pPr>
            <a:r>
              <a:rPr lang="en-US" sz="1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All-employee quota — used, remaining, carry-in</a:t>
            </a:r>
            <a:endParaRPr lang="en-US" sz="1650" dirty="0"/>
          </a:p>
          <a:p>
            <a:pPr marL="228600" indent="-228600" algn="l">
              <a:lnSpc>
                <a:spcPct val="105000"/>
              </a:lnSpc>
              <a:spcAft>
                <a:spcPts val="1872"/>
              </a:spcAft>
              <a:buSzPct val="100000"/>
              <a:buChar char="▪"/>
            </a:pPr>
            <a:r>
              <a:rPr lang="en-US" sz="1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person's full leave history</a:t>
            </a:r>
            <a:endParaRPr lang="en-US" sz="1650" dirty="0"/>
          </a:p>
          <a:p>
            <a:pPr marL="228600" indent="-228600" algn="l">
              <a:lnSpc>
                <a:spcPct val="105000"/>
              </a:lnSpc>
              <a:spcAft>
                <a:spcPts val="1872"/>
              </a:spcAft>
              <a:buSzPct val="100000"/>
              <a:buChar char="▪"/>
            </a:pPr>
            <a:r>
              <a:rPr lang="en-US" sz="1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burnout risk (next slide)</a:t>
            </a:r>
            <a:endParaRPr lang="en-US" sz="1650" dirty="0"/>
          </a:p>
          <a:p>
            <a:pPr marL="228600" indent="-228600" algn="l">
              <a:lnSpc>
                <a:spcPct val="105000"/>
              </a:lnSpc>
              <a:buSzPct val="100000"/>
              <a:buChar char="▪"/>
            </a:pPr>
            <a:r>
              <a:rPr lang="en-US" sz="1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report exports as a downloadable CSV</a:t>
            </a:r>
            <a:endParaRPr lang="en-US" sz="1650" dirty="0"/>
          </a:p>
        </p:txBody>
      </p:sp>
      <p:sp>
        <p:nvSpPr>
          <p:cNvPr id="23" name="Shape 19"/>
          <p:cNvSpPr/>
          <p:nvPr/>
        </p:nvSpPr>
        <p:spPr>
          <a:xfrm>
            <a:off x="10225735" y="6062472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10225735" y="606247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TTMI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58368" y="12070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BURNOUT RISK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686800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51062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215323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479585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743846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818931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083192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347454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611716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698480" y="-1051560"/>
            <a:ext cx="2194560" cy="2194560"/>
          </a:xfrm>
          <a:prstGeom prst="blockArc">
            <a:avLst>
              <a:gd name="adj1" fmla="val 12300000"/>
              <a:gd name="adj2" fmla="val 7500000"/>
              <a:gd name="adj3" fmla="val 31000"/>
            </a:avLst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0080" y="1280160"/>
            <a:ext cx="2450592" cy="329184"/>
          </a:xfrm>
          <a:prstGeom prst="roundRect">
            <a:avLst>
              <a:gd name="adj" fmla="val 50000"/>
            </a:avLst>
          </a:prstGeom>
          <a:solidFill>
            <a:srgbClr val="E4E4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128016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/control</a:t>
            </a:r>
            <a:r>
              <a:rPr lang="en-US" sz="12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›  </a:t>
            </a: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" y="2075688"/>
            <a:ext cx="6912864" cy="1429553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76200" dist="381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0" descr="assets/image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03120"/>
            <a:ext cx="6858000" cy="1374689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772400" y="2148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0B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BY RISK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772400" y="260604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05000"/>
              </a:lnSpc>
              <a:spcAft>
                <a:spcPts val="1440"/>
              </a:spcAft>
              <a:buSzPct val="100000"/>
              <a:buChar char="▪"/>
            </a:pPr>
            <a:r>
              <a:rPr lang="en-US" sz="15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Longest no-break stretch</a:t>
            </a:r>
            <a:endParaRPr lang="en-US" sz="1550" dirty="0"/>
          </a:p>
          <a:p>
            <a:pPr marL="228600" indent="-228600" algn="l">
              <a:lnSpc>
                <a:spcPct val="105000"/>
              </a:lnSpc>
              <a:spcAft>
                <a:spcPts val="1440"/>
              </a:spcAft>
              <a:buSzPct val="100000"/>
              <a:buChar char="▪"/>
            </a:pPr>
            <a:r>
              <a:rPr lang="en-US" sz="15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 vacation</a:t>
            </a:r>
            <a:endParaRPr lang="en-US" sz="1550" dirty="0"/>
          </a:p>
          <a:p>
            <a:pPr marL="228600" indent="-228600" algn="l">
              <a:lnSpc>
                <a:spcPct val="105000"/>
              </a:lnSpc>
              <a:spcAft>
                <a:spcPts val="1440"/>
              </a:spcAft>
              <a:buSzPct val="100000"/>
              <a:buChar char="▪"/>
            </a:pPr>
            <a:r>
              <a:rPr lang="en-US" sz="15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left in the year</a:t>
            </a:r>
            <a:endParaRPr lang="en-US" sz="1550" dirty="0"/>
          </a:p>
          <a:p>
            <a:pPr marL="228600" indent="-228600" algn="l">
              <a:lnSpc>
                <a:spcPct val="105000"/>
              </a:lnSpc>
              <a:buSzPct val="100000"/>
              <a:buChar char="▪"/>
            </a:pPr>
            <a:r>
              <a:rPr lang="en-US" sz="15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Longest working stretch</a:t>
            </a:r>
            <a:endParaRPr lang="en-US" sz="1550" dirty="0"/>
          </a:p>
        </p:txBody>
      </p:sp>
      <p:sp>
        <p:nvSpPr>
          <p:cNvPr id="20" name="Shape 17"/>
          <p:cNvSpPr/>
          <p:nvPr/>
        </p:nvSpPr>
        <p:spPr>
          <a:xfrm>
            <a:off x="10225735" y="6062472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0225735" y="606247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TTMI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Employees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686800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951062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215323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479585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743846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818931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083192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347454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611716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698480" y="-1051560"/>
            <a:ext cx="2194560" cy="2194560"/>
          </a:xfrm>
          <a:prstGeom prst="blockArc">
            <a:avLst>
              <a:gd name="adj1" fmla="val 12300000"/>
              <a:gd name="adj2" fmla="val 7500000"/>
              <a:gd name="adj3" fmla="val 31000"/>
            </a:avLst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1280160"/>
            <a:ext cx="3730752" cy="329184"/>
          </a:xfrm>
          <a:prstGeom prst="roundRect">
            <a:avLst>
              <a:gd name="adj" fmla="val 50000"/>
            </a:avLst>
          </a:prstGeom>
          <a:solidFill>
            <a:srgbClr val="E4E4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128016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/control</a:t>
            </a:r>
            <a:r>
              <a:rPr lang="en-US" sz="12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›  </a:t>
            </a: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employees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" y="1755647"/>
            <a:ext cx="3792415" cy="4585417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76200" dist="381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0" descr="assets/image5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79"/>
            <a:ext cx="3730752" cy="4573367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57784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0B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ACTIONS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577840" y="24231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/ edit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577840" y="273405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a person's name, their manager, and whether leave auto-approves or needs sign-off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577840" y="34747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Allowance override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577840" y="378561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one person a custom quota, apart from the central policy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5577840" y="45262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577840" y="483717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an employee (once their reports are reassigned)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225735" y="6062472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10225735" y="606247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TTMI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 &amp; reset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686800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951062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215323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479585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743846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818931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083192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347454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611716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698480" y="-1051560"/>
            <a:ext cx="2194560" cy="2194560"/>
          </a:xfrm>
          <a:prstGeom prst="blockArc">
            <a:avLst>
              <a:gd name="adj1" fmla="val 12300000"/>
              <a:gd name="adj2" fmla="val 7500000"/>
              <a:gd name="adj3" fmla="val 31000"/>
            </a:avLst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1280160"/>
            <a:ext cx="4370832" cy="329184"/>
          </a:xfrm>
          <a:prstGeom prst="roundRect">
            <a:avLst>
              <a:gd name="adj" fmla="val 50000"/>
            </a:avLst>
          </a:prstGeom>
          <a:solidFill>
            <a:srgbClr val="E4E4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128016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/control</a:t>
            </a:r>
            <a:r>
              <a:rPr lang="en-US" sz="12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›  </a:t>
            </a: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settings · Clear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182880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settings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2648" y="2258568"/>
            <a:ext cx="4174630" cy="2066544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76200" dist="381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0" descr="assets/image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86000"/>
            <a:ext cx="4119766" cy="20116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40080" y="4526280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policy — allowances, carry-over, caps — at a glance.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263640" y="182880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6236208" y="2258568"/>
            <a:ext cx="3692888" cy="2066544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76200" dist="381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1" descr="assets/image4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2286000"/>
            <a:ext cx="3638024" cy="20116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263640" y="4526280"/>
            <a:ext cx="5257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Wipe all requests &amp; calendar events. Type CLEAR to confirm — employees, policy and holidays are kept.</a:t>
            </a:r>
            <a:endParaRPr lang="en-US" sz="1350" dirty="0"/>
          </a:p>
        </p:txBody>
      </p:sp>
      <p:sp>
        <p:nvSpPr>
          <p:cNvPr id="23" name="Shape 19"/>
          <p:cNvSpPr/>
          <p:nvPr/>
        </p:nvSpPr>
        <p:spPr>
          <a:xfrm>
            <a:off x="10225735" y="6062472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10225735" y="606247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TTMI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/burnout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58368" y="12070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BURNOUT BOARD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686800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51062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215323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479585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743846" y="502920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818931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083192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347454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611716" y="753969"/>
            <a:ext cx="77724" cy="77724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698480" y="-1051560"/>
            <a:ext cx="2194560" cy="2194560"/>
          </a:xfrm>
          <a:prstGeom prst="blockArc">
            <a:avLst>
              <a:gd name="adj1" fmla="val 12300000"/>
              <a:gd name="adj2" fmla="val 7500000"/>
              <a:gd name="adj3" fmla="val 31000"/>
            </a:avLst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2648" y="1755648"/>
            <a:ext cx="3633425" cy="4123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76200" dist="38100" dir="5400000" algn="bl" rotWithShape="0">
              <a:srgbClr val="88888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0" descr="assets/image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3578561" cy="40690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120640" y="2148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0B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AFTER THE TEAM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102352" y="246888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burnout early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5120640" y="3383280"/>
            <a:ext cx="6400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05000"/>
              </a:lnSpc>
              <a:spcAft>
                <a:spcPts val="1728"/>
              </a:spcAft>
              <a:buSzPct val="100000"/>
              <a:buChar char="▪"/>
            </a:pPr>
            <a:r>
              <a:rPr lang="en-US" sz="1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Ranks your direct reports by burnout risk</a:t>
            </a:r>
            <a:endParaRPr lang="en-US" sz="1650" dirty="0"/>
          </a:p>
          <a:p>
            <a:pPr marL="228600" indent="-228600" algn="l">
              <a:lnSpc>
                <a:spcPct val="105000"/>
              </a:lnSpc>
              <a:spcAft>
                <a:spcPts val="1728"/>
              </a:spcAft>
              <a:buSzPct val="100000"/>
              <a:buChar char="▪"/>
            </a:pPr>
            <a:r>
              <a:rPr lang="en-US" sz="1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days since last leave, balance left &amp; next booked break</a:t>
            </a:r>
            <a:endParaRPr lang="en-US" sz="1650" dirty="0"/>
          </a:p>
          <a:p>
            <a:pPr marL="228600" indent="-228600" algn="l">
              <a:lnSpc>
                <a:spcPct val="105000"/>
              </a:lnSpc>
              <a:buSzPct val="100000"/>
              <a:buChar char="▪"/>
            </a:pPr>
            <a:r>
              <a:rPr lang="en-US" sz="1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Nudge to gently suggest someone takes a rest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5120640" y="5623560"/>
            <a:ext cx="164592" cy="164592"/>
          </a:xfrm>
          <a:prstGeom prst="ellipse">
            <a:avLst/>
          </a:prstGeom>
          <a:solidFill>
            <a:srgbClr val="FF3B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376672" y="55504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90+ days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223760" y="5623560"/>
            <a:ext cx="164592" cy="164592"/>
          </a:xfrm>
          <a:prstGeom prst="ellipse">
            <a:avLst/>
          </a:prstGeom>
          <a:solidFill>
            <a:srgbClr val="FFB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479792" y="55504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45+ days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326880" y="5623560"/>
            <a:ext cx="164592" cy="164592"/>
          </a:xfrm>
          <a:prstGeom prst="ellipse">
            <a:avLst/>
          </a:prstGeom>
          <a:solidFill>
            <a:srgbClr val="00B3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9582912" y="55504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45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10225735" y="6062472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10225735" y="606247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TTMI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3488380">
            <a:off x="-1865331" y="-1651923"/>
            <a:ext cx="2743200" cy="2743200"/>
          </a:xfrm>
          <a:prstGeom prst="blockArc">
            <a:avLst>
              <a:gd name="adj1" fmla="val 12300000"/>
              <a:gd name="adj2" fmla="val 7500000"/>
              <a:gd name="adj3" fmla="val 31000"/>
            </a:avLst>
          </a:prstGeom>
          <a:solidFill>
            <a:srgbClr val="00B3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3575173">
            <a:off x="11440574" y="5790661"/>
            <a:ext cx="2743200" cy="2743200"/>
          </a:xfrm>
          <a:prstGeom prst="blockArc">
            <a:avLst>
              <a:gd name="adj1" fmla="val 12300000"/>
              <a:gd name="adj2" fmla="val 7500000"/>
              <a:gd name="adj3" fmla="val 31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058400" y="640080"/>
            <a:ext cx="77724" cy="777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322662" y="640080"/>
            <a:ext cx="77724" cy="777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586923" y="640080"/>
            <a:ext cx="77724" cy="777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851185" y="640080"/>
            <a:ext cx="77724" cy="777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115446" y="640080"/>
            <a:ext cx="77724" cy="777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190531" y="891129"/>
            <a:ext cx="77724" cy="777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454792" y="891129"/>
            <a:ext cx="77724" cy="777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719054" y="891129"/>
            <a:ext cx="77724" cy="777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983316" y="891129"/>
            <a:ext cx="77724" cy="777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5852160"/>
            <a:ext cx="279806" cy="279806"/>
          </a:xfrm>
          <a:prstGeom prst="line">
            <a:avLst/>
          </a:prstGeom>
          <a:noFill/>
          <a:ln w="45263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 flipV="1">
            <a:off x="640080" y="5852160"/>
            <a:ext cx="279806" cy="279806"/>
          </a:xfrm>
          <a:prstGeom prst="line">
            <a:avLst/>
          </a:prstGeom>
          <a:noFill/>
          <a:ln w="45263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150315" y="5852160"/>
            <a:ext cx="279806" cy="279806"/>
          </a:xfrm>
          <a:prstGeom prst="line">
            <a:avLst/>
          </a:prstGeom>
          <a:noFill/>
          <a:ln w="45263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 flipV="1">
            <a:off x="1150315" y="5852160"/>
            <a:ext cx="279806" cy="279806"/>
          </a:xfrm>
          <a:prstGeom prst="line">
            <a:avLst/>
          </a:prstGeom>
          <a:noFill/>
          <a:ln w="45263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660550" y="5852160"/>
            <a:ext cx="279806" cy="279806"/>
          </a:xfrm>
          <a:prstGeom prst="line">
            <a:avLst/>
          </a:prstGeom>
          <a:noFill/>
          <a:ln w="45263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 flipV="1">
            <a:off x="1660550" y="5852160"/>
            <a:ext cx="279806" cy="279806"/>
          </a:xfrm>
          <a:prstGeom prst="line">
            <a:avLst/>
          </a:prstGeom>
          <a:noFill/>
          <a:ln w="45263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170786" y="5852160"/>
            <a:ext cx="279806" cy="279806"/>
          </a:xfrm>
          <a:prstGeom prst="line">
            <a:avLst/>
          </a:prstGeom>
          <a:noFill/>
          <a:ln w="45263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 flipV="1">
            <a:off x="2170786" y="5852160"/>
            <a:ext cx="279806" cy="279806"/>
          </a:xfrm>
          <a:prstGeom prst="line">
            <a:avLst/>
          </a:prstGeom>
          <a:noFill/>
          <a:ln w="45263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777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0B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SHORT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" y="1051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that runs itself</a:t>
            </a:r>
            <a:endParaRPr lang="en-US" sz="4600" dirty="0"/>
          </a:p>
        </p:txBody>
      </p:sp>
      <p:sp>
        <p:nvSpPr>
          <p:cNvPr id="23" name="Shape 21"/>
          <p:cNvSpPr/>
          <p:nvPr/>
        </p:nvSpPr>
        <p:spPr>
          <a:xfrm>
            <a:off x="640080" y="242316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60120" y="27889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i="1" dirty="0">
                <a:solidFill>
                  <a:srgbClr val="00B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command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960120" y="365760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 the manual DM-and-jot-down loop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434840" y="242316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0" y="27889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i="1" dirty="0">
                <a:solidFill>
                  <a:srgbClr val="00B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spreadsheets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4754880" y="365760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auto-saves and lands on the calendar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229600" y="242316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549640" y="27889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i="1" dirty="0">
                <a:solidFill>
                  <a:srgbClr val="00B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control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8549640" y="365760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data, our policy, our rules — priced pay-per-use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40080" y="50749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a Leave Optimizer and a Burnout Board — so the team actually rests.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225735" y="6062472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0225735" y="606247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TTMI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3543907">
            <a:off x="-1045488" y="-985924"/>
            <a:ext cx="2377440" cy="2377440"/>
          </a:xfrm>
          <a:prstGeom prst="blockArc">
            <a:avLst>
              <a:gd name="adj1" fmla="val 12300000"/>
              <a:gd name="adj2" fmla="val 7500000"/>
              <a:gd name="adj3" fmla="val 31000"/>
            </a:avLst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241280" y="50292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241280" y="50292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TTMI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778240" y="3291840"/>
            <a:ext cx="310896" cy="310896"/>
          </a:xfrm>
          <a:prstGeom prst="line">
            <a:avLst/>
          </a:prstGeom>
          <a:noFill/>
          <a:ln w="50292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 flipV="1">
            <a:off x="8778240" y="3291840"/>
            <a:ext cx="310896" cy="310896"/>
          </a:xfrm>
          <a:prstGeom prst="line">
            <a:avLst/>
          </a:prstGeom>
          <a:noFill/>
          <a:ln w="50292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345168" y="3291840"/>
            <a:ext cx="310896" cy="310896"/>
          </a:xfrm>
          <a:prstGeom prst="line">
            <a:avLst/>
          </a:prstGeom>
          <a:noFill/>
          <a:ln w="50292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flipV="1">
            <a:off x="9345168" y="3291840"/>
            <a:ext cx="310896" cy="310896"/>
          </a:xfrm>
          <a:prstGeom prst="line">
            <a:avLst/>
          </a:prstGeom>
          <a:noFill/>
          <a:ln w="50292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912096" y="3291840"/>
            <a:ext cx="310896" cy="310896"/>
          </a:xfrm>
          <a:prstGeom prst="line">
            <a:avLst/>
          </a:prstGeom>
          <a:noFill/>
          <a:ln w="50292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 flipV="1">
            <a:off x="9912096" y="3291840"/>
            <a:ext cx="310896" cy="310896"/>
          </a:xfrm>
          <a:prstGeom prst="line">
            <a:avLst/>
          </a:prstGeom>
          <a:noFill/>
          <a:ln w="50292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479024" y="3291840"/>
            <a:ext cx="310896" cy="310896"/>
          </a:xfrm>
          <a:prstGeom prst="line">
            <a:avLst/>
          </a:prstGeom>
          <a:noFill/>
          <a:ln w="50292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 flipV="1">
            <a:off x="10479024" y="3291840"/>
            <a:ext cx="310896" cy="310896"/>
          </a:xfrm>
          <a:prstGeom prst="line">
            <a:avLst/>
          </a:prstGeom>
          <a:noFill/>
          <a:ln w="50292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5669280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50976" y="5669280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261872" y="5669280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572768" y="5669280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883664" y="5669280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95528" y="5964631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106424" y="5964631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417320" y="5964631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728216" y="5964631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0" descr="assets/hatch_gr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606040"/>
            <a:ext cx="1920240" cy="192024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280160" y="27432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800" b="1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6800" dirty="0"/>
          </a:p>
        </p:txBody>
      </p:sp>
      <p:sp>
        <p:nvSpPr>
          <p:cNvPr id="24" name="Shape 21"/>
          <p:cNvSpPr/>
          <p:nvPr/>
        </p:nvSpPr>
        <p:spPr>
          <a:xfrm>
            <a:off x="1325880" y="3977640"/>
            <a:ext cx="502920" cy="54864"/>
          </a:xfrm>
          <a:prstGeom prst="rect">
            <a:avLst/>
          </a:prstGeom>
          <a:solidFill>
            <a:srgbClr val="00B3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1325880" y="4114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management that lives where your team already woks.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6035040" y="576072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  Saruj Chutapornpong · Intern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809</TotalTime>
  <Words>1083</Words>
  <Application>Microsoft Office PowerPoint</Application>
  <PresentationFormat>Widescreen</PresentationFormat>
  <Paragraphs>252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saruj chutapornpong</cp:lastModifiedBy>
  <cp:revision>9</cp:revision>
  <dcterms:created xsi:type="dcterms:W3CDTF">2026-07-26T18:21:18Z</dcterms:created>
  <dcterms:modified xsi:type="dcterms:W3CDTF">2026-07-27T08:05:45Z</dcterms:modified>
</cp:coreProperties>
</file>